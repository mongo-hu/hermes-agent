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5"/>
    <p:sldId id="268" r:id="rId16"/>
    <p:sldId id="269" r:id="rId17"/>
    <p:sldId id="270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0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5120640" cy="5120640"/>
          </a:xfrm>
          <a:prstGeom prst="ellipse">
            <a:avLst/>
          </a:prstGeom>
          <a:solidFill>
            <a:srgbClr val="2A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3108960"/>
            <a:ext cx="4023360" cy="4023360"/>
          </a:xfrm>
          <a:prstGeom prst="ellipse">
            <a:avLst/>
          </a:prstGeom>
          <a:solidFill>
            <a:srgbClr val="23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3749039" cy="2560320"/>
          </a:xfrm>
          <a:prstGeom prst="ellipse">
            <a:avLst/>
          </a:prstGeom>
          <a:solidFill>
            <a:srgbClr val="675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40080"/>
            <a:ext cx="2194560" cy="310896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EB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"/>
            <a:ext cx="219456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23897B"/>
                </a:solidFill>
                <a:latin typeface="微软雅黑" panose="020B0503020204020204" charset="-122"/>
              </a:rPr>
              <a:t>产品长期规划 · 内部汇报</a:t>
            </a:r>
            <a:endParaRPr sz="11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1389888"/>
            <a:ext cx="75895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未来 DFM 智能分析产品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6675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C2E0F1"/>
                </a:solidFill>
                <a:latin typeface="微软雅黑" panose="020B0503020204020204" charset="-122"/>
              </a:rPr>
              <a:t>从模具工程师的工作现场出发</a:t>
            </a:r>
            <a:endParaRPr sz="2400" b="1">
              <a:solidFill>
                <a:srgbClr val="C2E0F1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2907792"/>
            <a:ext cx="68580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 panose="020B0503020204020204" charset="-122"/>
              </a:rPr>
              <a:t>让结构检查更完整、工程判断有依据、问题沟通可定位、企业经验可复用</a:t>
            </a:r>
            <a:endParaRPr sz="17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18120" y="1225296"/>
            <a:ext cx="3474720" cy="431596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00200"/>
            <a:ext cx="2834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153052"/>
                </a:solidFill>
                <a:latin typeface="微软雅黑" panose="020B0503020204020204" charset="-122"/>
              </a:rPr>
              <a:t>DFM 工程数字副驾</a:t>
            </a:r>
            <a:endParaRPr sz="20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448" y="2240280"/>
            <a:ext cx="475488" cy="475488"/>
          </a:xfrm>
          <a:prstGeom prst="ellipse">
            <a:avLst/>
          </a:prstGeom>
          <a:solidFill>
            <a:srgbClr val="23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258568"/>
            <a:ext cx="47548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96528" y="2231136"/>
            <a:ext cx="731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53052"/>
                </a:solidFill>
                <a:latin typeface="微软雅黑" panose="020B0503020204020204" charset="-122"/>
              </a:rPr>
              <a:t>读懂</a:t>
            </a:r>
            <a:endParaRPr sz="14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91472" y="2240280"/>
            <a:ext cx="15087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606F80"/>
                </a:solidFill>
                <a:latin typeface="微软雅黑" panose="020B0503020204020204" charset="-122"/>
              </a:rPr>
              <a:t>识别产品结构与图纸要求</a:t>
            </a:r>
            <a:endParaRPr sz="10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156448" y="2990088"/>
            <a:ext cx="475488" cy="475488"/>
          </a:xfrm>
          <a:prstGeom prst="ellipse">
            <a:avLst/>
          </a:prstGeom>
          <a:solidFill>
            <a:srgbClr val="2A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3008376"/>
            <a:ext cx="47548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96528" y="2980944"/>
            <a:ext cx="731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53052"/>
                </a:solidFill>
                <a:latin typeface="微软雅黑" panose="020B0503020204020204" charset="-122"/>
              </a:rPr>
              <a:t>算清</a:t>
            </a:r>
            <a:endParaRPr sz="14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91472" y="2990088"/>
            <a:ext cx="15087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606F80"/>
                </a:solidFill>
                <a:latin typeface="微软雅黑" panose="020B0503020204020204" charset="-122"/>
              </a:rPr>
              <a:t>计算几何指标与成型风险</a:t>
            </a:r>
            <a:endParaRPr sz="10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156448" y="3739896"/>
            <a:ext cx="475488" cy="475488"/>
          </a:xfrm>
          <a:prstGeom prst="ellipse">
            <a:avLst/>
          </a:prstGeom>
          <a:solidFill>
            <a:srgbClr val="D68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3758183"/>
            <a:ext cx="47548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96528" y="3730752"/>
            <a:ext cx="731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53052"/>
                </a:solidFill>
                <a:latin typeface="微软雅黑" panose="020B0503020204020204" charset="-122"/>
              </a:rPr>
              <a:t>判准</a:t>
            </a:r>
            <a:endParaRPr sz="14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91472" y="3739896"/>
            <a:ext cx="15087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606F80"/>
                </a:solidFill>
                <a:latin typeface="微软雅黑" panose="020B0503020204020204" charset="-122"/>
              </a:rPr>
              <a:t>应用企业规则并保留依据</a:t>
            </a:r>
            <a:endParaRPr sz="10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156448" y="4489704"/>
            <a:ext cx="475488" cy="475488"/>
          </a:xfrm>
          <a:prstGeom prst="ellipse">
            <a:avLst/>
          </a:prstGeom>
          <a:solidFill>
            <a:srgbClr val="675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4507992"/>
            <a:ext cx="47548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96528" y="4480560"/>
            <a:ext cx="731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53052"/>
                </a:solidFill>
                <a:latin typeface="微软雅黑" panose="020B0503020204020204" charset="-122"/>
              </a:rPr>
              <a:t>闭环</a:t>
            </a:r>
            <a:endParaRPr sz="14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91472" y="4489704"/>
            <a:ext cx="15087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606F80"/>
                </a:solidFill>
                <a:latin typeface="微软雅黑" panose="020B0503020204020204" charset="-122"/>
              </a:rPr>
              <a:t>连接整改、试模与量产反馈</a:t>
            </a:r>
            <a:endParaRPr sz="10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9808" y="6199632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B7CADE"/>
                </a:solidFill>
                <a:latin typeface="微软雅黑" panose="020B0503020204020204" charset="-122"/>
              </a:rPr>
              <a:t>2026 · 产品能力规划</a:t>
            </a:r>
            <a:endParaRPr sz="1050" b="0">
              <a:solidFill>
                <a:srgbClr val="B7CAD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01｜业务现场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模具工程师面对的，不只是一个几何检查问题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一次 DFM 评审往往跨资料、跨角色、跨经验，需要兼顾完整性、效率与责任边界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56235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786384" cy="694944"/>
          </a:xfrm>
          <a:prstGeom prst="roundRect">
            <a:avLst/>
          </a:prstGeom>
          <a:solidFill>
            <a:srgbClr val="2A68A7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792224"/>
            <a:ext cx="71323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资料散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72768" y="1764792"/>
            <a:ext cx="440740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0">
                <a:solidFill>
                  <a:srgbClr val="26303C"/>
                </a:solidFill>
                <a:latin typeface="微软雅黑" panose="020B0503020204020204" charset="-122"/>
              </a:rPr>
              <a:t>STEP、二维图纸、材料、皮纹和客户标准分散在不同文件与沟通记录中</a:t>
            </a:r>
            <a:endParaRPr sz="122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2542032"/>
            <a:ext cx="56235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2542032"/>
            <a:ext cx="786384" cy="694944"/>
          </a:xfrm>
          <a:prstGeom prst="roundRect">
            <a:avLst/>
          </a:prstGeom>
          <a:solidFill>
            <a:srgbClr val="D68932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688336"/>
            <a:ext cx="71323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判断重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72768" y="2660904"/>
            <a:ext cx="440740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0">
                <a:solidFill>
                  <a:srgbClr val="26303C"/>
                </a:solidFill>
                <a:latin typeface="微软雅黑" panose="020B0503020204020204" charset="-122"/>
              </a:rPr>
              <a:t>结构是否可成型、是否要抽芯、如何整改，高度依赖个人经验</a:t>
            </a:r>
            <a:endParaRPr sz="122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3438144"/>
            <a:ext cx="56235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438144"/>
            <a:ext cx="786384" cy="694944"/>
          </a:xfrm>
          <a:prstGeom prst="roundRect">
            <a:avLst/>
          </a:prstGeom>
          <a:solidFill>
            <a:srgbClr val="BE494C"/>
          </a:solidFill>
          <a:ln w="12700">
            <a:solidFill>
              <a:srgbClr val="BE4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3584448"/>
            <a:ext cx="71323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检查漏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72768" y="3557015"/>
            <a:ext cx="440740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0">
                <a:solidFill>
                  <a:srgbClr val="26303C"/>
                </a:solidFill>
                <a:latin typeface="微软雅黑" panose="020B0503020204020204" charset="-122"/>
              </a:rPr>
              <a:t>项目紧、结构多，人工逐项检查容易遗漏局部薄壁、倒扣和不合理比例</a:t>
            </a:r>
            <a:endParaRPr sz="122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4334256"/>
            <a:ext cx="56235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4334256"/>
            <a:ext cx="786384" cy="694944"/>
          </a:xfrm>
          <a:prstGeom prst="roundRect">
            <a:avLst/>
          </a:prstGeom>
          <a:solidFill>
            <a:srgbClr val="67539B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4480560"/>
            <a:ext cx="71323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沟通慢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72768" y="4453128"/>
            <a:ext cx="440740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0">
                <a:solidFill>
                  <a:srgbClr val="26303C"/>
                </a:solidFill>
                <a:latin typeface="微软雅黑" panose="020B0503020204020204" charset="-122"/>
              </a:rPr>
              <a:t>问题位置、测量口径和规则来源说不清，产品与模具团队反复确认</a:t>
            </a:r>
            <a:endParaRPr sz="122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5230368"/>
            <a:ext cx="56235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5230368"/>
            <a:ext cx="786384" cy="694944"/>
          </a:xfrm>
          <a:prstGeom prst="roundRect">
            <a:avLst/>
          </a:prstGeom>
          <a:solidFill>
            <a:srgbClr val="23897B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5376672"/>
            <a:ext cx="71323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经验丢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72768" y="5349240"/>
            <a:ext cx="440740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0">
                <a:solidFill>
                  <a:srgbClr val="26303C"/>
                </a:solidFill>
                <a:latin typeface="微软雅黑" panose="020B0503020204020204" charset="-122"/>
              </a:rPr>
              <a:t>项目结论停留在报告或个人记忆中，新项目难以复用</a:t>
            </a:r>
            <a:endParaRPr sz="122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629400" y="1645920"/>
            <a:ext cx="4983480" cy="4270248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011680"/>
            <a:ext cx="416052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153052"/>
                </a:solidFill>
                <a:latin typeface="微软雅黑" panose="020B0503020204020204" charset="-122"/>
              </a:rPr>
              <a:t>产品要解决的核心矛盾</a:t>
            </a:r>
            <a:endParaRPr sz="20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52360" y="2743200"/>
            <a:ext cx="33375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606F80"/>
                </a:solidFill>
                <a:latin typeface="微软雅黑" panose="020B0503020204020204" charset="-122"/>
              </a:rPr>
              <a:t>把工程经验变成</a:t>
            </a:r>
            <a:endParaRPr sz="16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86600" y="3127248"/>
            <a:ext cx="4069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600" b="1">
                <a:solidFill>
                  <a:srgbClr val="23897B"/>
                </a:solidFill>
                <a:latin typeface="微软雅黑" panose="020B0503020204020204" charset="-122"/>
              </a:rPr>
              <a:t>可执行的分析流程</a:t>
            </a:r>
            <a:endParaRPr sz="26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52360" y="3822191"/>
            <a:ext cx="33375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606F80"/>
                </a:solidFill>
                <a:latin typeface="微软雅黑" panose="020B0503020204020204" charset="-122"/>
              </a:rPr>
              <a:t>把一次性报告变成</a:t>
            </a:r>
            <a:endParaRPr sz="16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67728" y="4224528"/>
            <a:ext cx="4297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400" b="1">
                <a:solidFill>
                  <a:srgbClr val="2A68A7"/>
                </a:solidFill>
                <a:latin typeface="微软雅黑" panose="020B0503020204020204" charset="-122"/>
              </a:rPr>
              <a:t>可持续积累的企业能力</a:t>
            </a:r>
            <a:endParaRPr sz="240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86600" y="5074920"/>
            <a:ext cx="406908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0">
                <a:solidFill>
                  <a:srgbClr val="26303C"/>
                </a:solidFill>
                <a:latin typeface="微软雅黑" panose="020B0503020204020204" charset="-122"/>
              </a:rPr>
              <a:t>人负责工程签审，系统负责完整检查、客观计算、证据追溯与经验复用</a:t>
            </a:r>
            <a:endParaRPr sz="125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02｜使用流程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未来产品如何进入一次真实的 DFM 评审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输入并不只是一份三维模型，输出也不只是一张问题清单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38528" cy="2066543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16152" y="1572768"/>
            <a:ext cx="512064" cy="512064"/>
          </a:xfrm>
          <a:prstGeom prst="ellipse">
            <a:avLst/>
          </a:prstGeom>
          <a:solidFill>
            <a:srgbClr val="2A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618488"/>
            <a:ext cx="512064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" y="2176272"/>
            <a:ext cx="171907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53052"/>
                </a:solidFill>
                <a:latin typeface="微软雅黑" panose="020B0503020204020204" charset="-122"/>
              </a:rPr>
              <a:t>接收资料</a:t>
            </a:r>
            <a:endParaRPr sz="16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" y="2743200"/>
            <a:ext cx="1609344" cy="7863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STEP / 2D图纸
材料·皮纹·客户标准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450591" y="2834640"/>
            <a:ext cx="320041" cy="0"/>
          </a:xfrm>
          <a:prstGeom prst="line">
            <a:avLst/>
          </a:prstGeom>
          <a:ln w="31750">
            <a:solidFill>
              <a:srgbClr val="CF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16352" y="1828800"/>
            <a:ext cx="1938528" cy="2066543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9584" y="1572768"/>
            <a:ext cx="512064" cy="512064"/>
          </a:xfrm>
          <a:prstGeom prst="ellipse">
            <a:avLst/>
          </a:prstGeom>
          <a:solidFill>
            <a:srgbClr val="23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1618488"/>
            <a:ext cx="512064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26080" y="2176272"/>
            <a:ext cx="171907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53052"/>
                </a:solidFill>
                <a:latin typeface="微软雅黑" panose="020B0503020204020204" charset="-122"/>
              </a:rPr>
              <a:t>理解产品</a:t>
            </a:r>
            <a:endParaRPr sz="16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80944" y="2743200"/>
            <a:ext cx="1609344" cy="7863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识别结构区域
融合图纸要求与项目事实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4764024" y="2834640"/>
            <a:ext cx="320040" cy="0"/>
          </a:xfrm>
          <a:prstGeom prst="line">
            <a:avLst/>
          </a:prstGeom>
          <a:ln w="31750">
            <a:solidFill>
              <a:srgbClr val="CF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29783" y="1828800"/>
            <a:ext cx="1938528" cy="2066543"/>
          </a:xfrm>
          <a:prstGeom prst="roundRect">
            <a:avLst/>
          </a:prstGeom>
          <a:solidFill>
            <a:srgbClr val="F5F1FC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43016" y="1572768"/>
            <a:ext cx="512064" cy="512064"/>
          </a:xfrm>
          <a:prstGeom prst="ellipse">
            <a:avLst/>
          </a:prstGeom>
          <a:solidFill>
            <a:srgbClr val="675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43016" y="1618488"/>
            <a:ext cx="512064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39512" y="2176272"/>
            <a:ext cx="171907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53052"/>
                </a:solidFill>
                <a:latin typeface="微软雅黑" panose="020B0503020204020204" charset="-122"/>
              </a:rPr>
              <a:t>客观计算</a:t>
            </a:r>
            <a:endParaRPr sz="16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94375" y="2743200"/>
            <a:ext cx="1609344" cy="7863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壁厚·拔模·圆角·孔深
倒扣·距离·结构比例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077455" y="2834640"/>
            <a:ext cx="320041" cy="0"/>
          </a:xfrm>
          <a:prstGeom prst="line">
            <a:avLst/>
          </a:prstGeom>
          <a:ln w="31750">
            <a:solidFill>
              <a:srgbClr val="CF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43216" y="1828800"/>
            <a:ext cx="1938528" cy="2066543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56448" y="1572768"/>
            <a:ext cx="512064" cy="512064"/>
          </a:xfrm>
          <a:prstGeom prst="ellipse">
            <a:avLst/>
          </a:prstGeom>
          <a:solidFill>
            <a:srgbClr val="D68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1618488"/>
            <a:ext cx="512064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52944" y="2176272"/>
            <a:ext cx="171907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53052"/>
                </a:solidFill>
                <a:latin typeface="微软雅黑" panose="020B0503020204020204" charset="-122"/>
              </a:rPr>
              <a:t>规则判断</a:t>
            </a:r>
            <a:endParaRPr sz="16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07808" y="2743200"/>
            <a:ext cx="1609344" cy="7863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默认规则 + 企业规则
明确适用条件与来源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9390888" y="2834640"/>
            <a:ext cx="320040" cy="0"/>
          </a:xfrm>
          <a:prstGeom prst="line">
            <a:avLst/>
          </a:prstGeom>
          <a:ln w="31750">
            <a:solidFill>
              <a:srgbClr val="CF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56648" y="1828800"/>
            <a:ext cx="1938528" cy="2066543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42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69880" y="1572768"/>
            <a:ext cx="512064" cy="512064"/>
          </a:xfrm>
          <a:prstGeom prst="ellipse">
            <a:avLst/>
          </a:prstGeom>
          <a:solidFill>
            <a:srgbClr val="42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69880" y="1618488"/>
            <a:ext cx="512064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66376" y="2176272"/>
            <a:ext cx="171907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53052"/>
                </a:solidFill>
                <a:latin typeface="微软雅黑" panose="020B0503020204020204" charset="-122"/>
              </a:rPr>
              <a:t>交付与协同</a:t>
            </a:r>
            <a:endParaRPr sz="16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921240" y="2743200"/>
            <a:ext cx="1609344" cy="7863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三维定位·证据图·报告
整改建议·复核记录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58368" y="4315968"/>
            <a:ext cx="10881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553712"/>
            <a:ext cx="2331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53052"/>
                </a:solidFill>
                <a:latin typeface="微软雅黑" panose="020B0503020204020204" charset="-122"/>
              </a:rPr>
              <a:t>模具工程师在流程中的关键动作</a:t>
            </a:r>
            <a:endParaRPr sz="14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182112" y="4498848"/>
            <a:ext cx="1353312" cy="310896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82112" y="4507992"/>
            <a:ext cx="135331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2A68A7"/>
                </a:solidFill>
                <a:latin typeface="微软雅黑" panose="020B0503020204020204" charset="-122"/>
              </a:rPr>
              <a:t>确认关键事实</a:t>
            </a:r>
            <a:endParaRPr sz="105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782312" y="4498848"/>
            <a:ext cx="1353312" cy="310896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EB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82312" y="4507992"/>
            <a:ext cx="135331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23897B"/>
                </a:solidFill>
                <a:latin typeface="微软雅黑" panose="020B0503020204020204" charset="-122"/>
              </a:rPr>
              <a:t>审核结构识别</a:t>
            </a:r>
            <a:endParaRPr sz="105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382512" y="4498848"/>
            <a:ext cx="1353312" cy="310896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4507992"/>
            <a:ext cx="135331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2A68A7"/>
                </a:solidFill>
                <a:latin typeface="微软雅黑" panose="020B0503020204020204" charset="-122"/>
              </a:rPr>
              <a:t>复核高风险结论</a:t>
            </a:r>
            <a:endParaRPr sz="105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982712" y="4498848"/>
            <a:ext cx="1353312" cy="310896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EB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82712" y="4507992"/>
            <a:ext cx="135331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23897B"/>
                </a:solidFill>
                <a:latin typeface="微软雅黑" panose="020B0503020204020204" charset="-122"/>
              </a:rPr>
              <a:t>选择整改方案</a:t>
            </a:r>
            <a:endParaRPr sz="105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582912" y="4498848"/>
            <a:ext cx="1353312" cy="310896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82912" y="4507992"/>
            <a:ext cx="135331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2A68A7"/>
                </a:solidFill>
                <a:latin typeface="微软雅黑" panose="020B0503020204020204" charset="-122"/>
              </a:rPr>
              <a:t>反馈试模结果</a:t>
            </a:r>
            <a:endParaRPr sz="105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00400" y="5047488"/>
            <a:ext cx="777240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606F80"/>
                </a:solidFill>
                <a:latin typeface="微软雅黑" panose="020B0503020204020204" charset="-122"/>
              </a:rPr>
              <a:t>系统减少重复劳动，但关键工程结论始终保留人工确认与签审。</a:t>
            </a:r>
            <a:endParaRPr sz="12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03｜产品几何 DFM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能力一：从三维模型中识别“有业务含义的结构”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系统不仅看到曲面和边，而是尝试理解工程师关心的主体壁、柱、筋、孔、倒扣与外观区域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3703320" cy="44805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2926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153052"/>
                </a:solidFill>
                <a:latin typeface="微软雅黑" panose="020B0503020204020204" charset="-122"/>
              </a:rPr>
              <a:t>输入：产品三维模型</a:t>
            </a:r>
            <a:endParaRPr sz="18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97280" y="274320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3054096"/>
            <a:ext cx="1965960" cy="1106424"/>
          </a:xfrm>
          <a:prstGeom prst="rect">
            <a:avLst/>
          </a:prstGeom>
          <a:solidFill>
            <a:srgbClr val="F6F8FA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" y="2404872"/>
            <a:ext cx="566928" cy="566928"/>
          </a:xfrm>
          <a:prstGeom prst="ellipse">
            <a:avLst/>
          </a:prstGeom>
          <a:solidFill>
            <a:srgbClr val="FFF6E8"/>
          </a:solidFill>
          <a:ln w="1905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0472" y="2569464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63240" y="2404872"/>
            <a:ext cx="566928" cy="566928"/>
          </a:xfrm>
          <a:prstGeom prst="ellipse">
            <a:avLst/>
          </a:prstGeom>
          <a:solidFill>
            <a:srgbClr val="FFF6E8"/>
          </a:solidFill>
          <a:ln w="1905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27832" y="2569464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1664208" y="4023360"/>
            <a:ext cx="384048" cy="530352"/>
          </a:xfrm>
          <a:prstGeom prst="triangle">
            <a:avLst/>
          </a:prstGeom>
          <a:solidFill>
            <a:srgbClr val="EBF8F4"/>
          </a:solidFill>
          <a:ln w="1524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2212848" y="4023360"/>
            <a:ext cx="384048" cy="530352"/>
          </a:xfrm>
          <a:prstGeom prst="triangle">
            <a:avLst/>
          </a:prstGeom>
          <a:solidFill>
            <a:srgbClr val="EBF8F4"/>
          </a:solidFill>
          <a:ln w="1524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2761488" y="4023360"/>
            <a:ext cx="384048" cy="530352"/>
          </a:xfrm>
          <a:prstGeom prst="triangle">
            <a:avLst/>
          </a:prstGeom>
          <a:solidFill>
            <a:srgbClr val="EBF8F4"/>
          </a:solidFill>
          <a:ln w="1524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83480"/>
            <a:ext cx="29260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20" b="0">
                <a:solidFill>
                  <a:srgbClr val="606F80"/>
                </a:solidFill>
                <a:latin typeface="微软雅黑" panose="020B0503020204020204" charset="-122"/>
              </a:rPr>
              <a:t>业务语义不是 CAD 文件直接提供的，
需要结合几何、拓扑、位置关系和工程知识推断。</a:t>
            </a:r>
            <a:endParaRPr sz="122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617720" y="1645920"/>
            <a:ext cx="318211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7720" y="1645920"/>
            <a:ext cx="73152" cy="1207008"/>
          </a:xfrm>
          <a:prstGeom prst="roundRect">
            <a:avLst/>
          </a:prstGeom>
          <a:solidFill>
            <a:srgbClr val="2A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828800"/>
            <a:ext cx="277063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主体壁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46320" y="2304288"/>
            <a:ext cx="2770632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>
                <a:solidFill>
                  <a:srgbClr val="606F80"/>
                </a:solidFill>
                <a:latin typeface="微软雅黑" panose="020B0503020204020204" charset="-122"/>
              </a:rPr>
              <a:t>确定产品主要成型壁与外观候选面</a:t>
            </a:r>
            <a:endParaRPr sz="108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110727" y="1645920"/>
            <a:ext cx="318211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10727" y="1645920"/>
            <a:ext cx="73152" cy="1207008"/>
          </a:xfrm>
          <a:prstGeom prst="roundRect">
            <a:avLst/>
          </a:prstGeom>
          <a:solidFill>
            <a:srgbClr val="D68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1828800"/>
            <a:ext cx="277063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螺钉柱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39327" y="2304288"/>
            <a:ext cx="2770632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>
                <a:solidFill>
                  <a:srgbClr val="606F80"/>
                </a:solidFill>
                <a:latin typeface="微软雅黑" panose="020B0503020204020204" charset="-122"/>
              </a:rPr>
              <a:t>识别柱壁、根部、孔与主体连接关系</a:t>
            </a:r>
            <a:endParaRPr sz="108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617720" y="3127248"/>
            <a:ext cx="318211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17720" y="3127248"/>
            <a:ext cx="73152" cy="1207008"/>
          </a:xfrm>
          <a:prstGeom prst="roundRect">
            <a:avLst/>
          </a:prstGeom>
          <a:solidFill>
            <a:srgbClr val="23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310128"/>
            <a:ext cx="277063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加强筋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46320" y="3785615"/>
            <a:ext cx="2770632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>
                <a:solidFill>
                  <a:srgbClr val="606F80"/>
                </a:solidFill>
                <a:latin typeface="微软雅黑" panose="020B0503020204020204" charset="-122"/>
              </a:rPr>
              <a:t>识别筋壁、根部、走向和相邻结构</a:t>
            </a:r>
            <a:endParaRPr sz="108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110727" y="3127248"/>
            <a:ext cx="318211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0727" y="3127248"/>
            <a:ext cx="73152" cy="1207008"/>
          </a:xfrm>
          <a:prstGeom prst="roundRect">
            <a:avLst/>
          </a:prstGeom>
          <a:solidFill>
            <a:srgbClr val="675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7" y="3310128"/>
            <a:ext cx="277063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凸台与孔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39327" y="3785615"/>
            <a:ext cx="2770632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>
                <a:solidFill>
                  <a:srgbClr val="606F80"/>
                </a:solidFill>
                <a:latin typeface="微软雅黑" panose="020B0503020204020204" charset="-122"/>
              </a:rPr>
              <a:t>区分支承、定位、装配与钻孔结构</a:t>
            </a:r>
            <a:endParaRPr sz="108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617720" y="4608576"/>
            <a:ext cx="318211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17720" y="4608576"/>
            <a:ext cx="73152" cy="1207008"/>
          </a:xfrm>
          <a:prstGeom prst="roundRect">
            <a:avLst/>
          </a:prstGeom>
          <a:solidFill>
            <a:srgbClr val="BE4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4791456"/>
            <a:ext cx="277063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倒扣区域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46320" y="5266944"/>
            <a:ext cx="2770632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>
                <a:solidFill>
                  <a:srgbClr val="606F80"/>
                </a:solidFill>
                <a:latin typeface="微软雅黑" panose="020B0503020204020204" charset="-122"/>
              </a:rPr>
              <a:t>定位阻碍正常脱模的方向性结构</a:t>
            </a:r>
            <a:endParaRPr sz="108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110727" y="4608576"/>
            <a:ext cx="318211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10727" y="4608576"/>
            <a:ext cx="73152" cy="1207008"/>
          </a:xfrm>
          <a:prstGeom prst="roundRect">
            <a:avLst/>
          </a:prstGeom>
          <a:solidFill>
            <a:srgbClr val="42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9327" y="4791456"/>
            <a:ext cx="277063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外观面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39327" y="5266944"/>
            <a:ext cx="2770632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>
                <a:solidFill>
                  <a:srgbClr val="606F80"/>
                </a:solidFill>
                <a:latin typeface="微软雅黑" panose="020B0503020204020204" charset="-122"/>
              </a:rPr>
              <a:t>结合图纸、客户要求和表面语义确认</a:t>
            </a:r>
            <a:endParaRPr sz="108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645152" y="5925312"/>
            <a:ext cx="6812280" cy="384048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73168" y="5989320"/>
            <a:ext cx="654710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153052"/>
                </a:solidFill>
                <a:latin typeface="微软雅黑" panose="020B0503020204020204" charset="-122"/>
              </a:rPr>
              <a:t>识别结果必须可定位、可复核、可标注置信度；不确定时进入人工确认。</a:t>
            </a:r>
            <a:endParaRPr sz="115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03｜产品几何 DFM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能力二：围绕结构区域，计算真正影响开模的指标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同一个“壁厚”或“拔模角”必须明确计算对象、测量口径、极值位置和证据范围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417320" cy="502920"/>
          </a:xfrm>
          <a:prstGeom prst="rect">
            <a:avLst/>
          </a:prstGeom>
          <a:solidFill>
            <a:srgbClr val="153052"/>
          </a:solidFill>
          <a:ln w="12700">
            <a:solidFill>
              <a:srgbClr val="15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32588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结构区域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20240" y="1664208"/>
            <a:ext cx="2907792" cy="502920"/>
          </a:xfrm>
          <a:prstGeom prst="rect">
            <a:avLst/>
          </a:prstGeom>
          <a:solidFill>
            <a:srgbClr val="153052"/>
          </a:solidFill>
          <a:ln w="12700">
            <a:solidFill>
              <a:srgbClr val="15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737360"/>
            <a:ext cx="281635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重点指标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828032" y="1664208"/>
            <a:ext cx="3127248" cy="502920"/>
          </a:xfrm>
          <a:prstGeom prst="rect">
            <a:avLst/>
          </a:prstGeom>
          <a:solidFill>
            <a:srgbClr val="153052"/>
          </a:solidFill>
          <a:ln w="12700">
            <a:solidFill>
              <a:srgbClr val="15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1737360"/>
            <a:ext cx="3035808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主要回答的问题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55279" y="1664208"/>
            <a:ext cx="3200400" cy="502920"/>
          </a:xfrm>
          <a:prstGeom prst="rect">
            <a:avLst/>
          </a:prstGeom>
          <a:solidFill>
            <a:srgbClr val="153052"/>
          </a:solidFill>
          <a:ln w="12700">
            <a:solidFill>
              <a:srgbClr val="15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737360"/>
            <a:ext cx="310896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典型风险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2167128"/>
            <a:ext cx="141732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240280"/>
            <a:ext cx="125272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30" b="1">
                <a:solidFill>
                  <a:srgbClr val="153052"/>
                </a:solidFill>
                <a:latin typeface="微软雅黑" panose="020B0503020204020204" charset="-122"/>
              </a:rPr>
              <a:t>主体壁</a:t>
            </a:r>
            <a:endParaRPr sz="123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920240" y="2167128"/>
            <a:ext cx="2907792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02536" y="2240280"/>
            <a:ext cx="274320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最小/平均壁厚、壁厚变化、拔模角、圆角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28032" y="2167128"/>
            <a:ext cx="3127248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8" y="2240280"/>
            <a:ext cx="2962656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能否稳定充填和脱模？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955279" y="2167128"/>
            <a:ext cx="320040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7575" y="2240280"/>
            <a:ext cx="303580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缩水、困气、变形、粘模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2889504"/>
            <a:ext cx="1417320" cy="722376"/>
          </a:xfrm>
          <a:prstGeom prst="rect">
            <a:avLst/>
          </a:prstGeom>
          <a:solidFill>
            <a:srgbClr val="F6F8FA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2962656"/>
            <a:ext cx="125272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30" b="1">
                <a:solidFill>
                  <a:srgbClr val="153052"/>
                </a:solidFill>
                <a:latin typeface="微软雅黑" panose="020B0503020204020204" charset="-122"/>
              </a:rPr>
              <a:t>螺钉柱</a:t>
            </a:r>
            <a:endParaRPr sz="123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920240" y="2889504"/>
            <a:ext cx="2907792" cy="722376"/>
          </a:xfrm>
          <a:prstGeom prst="rect">
            <a:avLst/>
          </a:prstGeom>
          <a:solidFill>
            <a:srgbClr val="F6F8FA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02536" y="2962656"/>
            <a:ext cx="274320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柱壁厚、孔深、拔模、根部圆角、间距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828032" y="2889504"/>
            <a:ext cx="3127248" cy="722376"/>
          </a:xfrm>
          <a:prstGeom prst="rect">
            <a:avLst/>
          </a:prstGeom>
          <a:solidFill>
            <a:srgbClr val="F6F8FA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0328" y="2962656"/>
            <a:ext cx="2962656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强度与成型能否兼顾？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955279" y="2889504"/>
            <a:ext cx="3200400" cy="722376"/>
          </a:xfrm>
          <a:prstGeom prst="rect">
            <a:avLst/>
          </a:prstGeom>
          <a:solidFill>
            <a:srgbClr val="F6F8FA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7575" y="2962656"/>
            <a:ext cx="303580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缩痕、开裂、顶白、加工困难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3611880"/>
            <a:ext cx="141732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3685032"/>
            <a:ext cx="125272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30" b="1">
                <a:solidFill>
                  <a:srgbClr val="153052"/>
                </a:solidFill>
                <a:latin typeface="微软雅黑" panose="020B0503020204020204" charset="-122"/>
              </a:rPr>
              <a:t>加强筋</a:t>
            </a:r>
            <a:endParaRPr sz="123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920240" y="3611880"/>
            <a:ext cx="2907792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02536" y="3685032"/>
            <a:ext cx="274320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筋厚/主壁比、筋高、拔模、根部圆角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28032" y="3611880"/>
            <a:ext cx="3127248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0328" y="3685032"/>
            <a:ext cx="2962656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加强效果是否带来外观风险？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955279" y="3611880"/>
            <a:ext cx="320040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37575" y="3685032"/>
            <a:ext cx="303580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背面缩痕、充填不足、应力集中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02920" y="4334256"/>
            <a:ext cx="1417320" cy="722376"/>
          </a:xfrm>
          <a:prstGeom prst="rect">
            <a:avLst/>
          </a:prstGeom>
          <a:solidFill>
            <a:srgbClr val="F6F8FA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4407408"/>
            <a:ext cx="125272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30" b="1">
                <a:solidFill>
                  <a:srgbClr val="153052"/>
                </a:solidFill>
                <a:latin typeface="微软雅黑" panose="020B0503020204020204" charset="-122"/>
              </a:rPr>
              <a:t>孔与凸台</a:t>
            </a:r>
            <a:endParaRPr sz="123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920240" y="4334256"/>
            <a:ext cx="2907792" cy="722376"/>
          </a:xfrm>
          <a:prstGeom prst="rect">
            <a:avLst/>
          </a:prstGeom>
          <a:solidFill>
            <a:srgbClr val="F6F8FA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02536" y="4407408"/>
            <a:ext cx="274320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孔深径比、盲孔底厚、同轴/间距、圆角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828032" y="4334256"/>
            <a:ext cx="3127248" cy="722376"/>
          </a:xfrm>
          <a:prstGeom prst="rect">
            <a:avLst/>
          </a:prstGeom>
          <a:solidFill>
            <a:srgbClr val="F6F8FA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10328" y="4407408"/>
            <a:ext cx="2962656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镶件、型芯和加工空间是否合理？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955279" y="4334256"/>
            <a:ext cx="3200400" cy="722376"/>
          </a:xfrm>
          <a:prstGeom prst="rect">
            <a:avLst/>
          </a:prstGeom>
          <a:solidFill>
            <a:srgbClr val="F6F8FA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37575" y="4407408"/>
            <a:ext cx="303580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细长型芯、偏心、断针、披锋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02920" y="5056632"/>
            <a:ext cx="141732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" y="5129784"/>
            <a:ext cx="125272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30" b="1">
                <a:solidFill>
                  <a:srgbClr val="153052"/>
                </a:solidFill>
                <a:latin typeface="微软雅黑" panose="020B0503020204020204" charset="-122"/>
              </a:rPr>
              <a:t>倒扣/外观面</a:t>
            </a:r>
            <a:endParaRPr sz="123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920240" y="5056632"/>
            <a:ext cx="2907792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02536" y="5129784"/>
            <a:ext cx="274320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倒扣方向与深度、侧抽距离、外观面拔模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828032" y="5056632"/>
            <a:ext cx="3127248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10328" y="5129784"/>
            <a:ext cx="2962656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是否需要抽芯，表面能否顺利脱模？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955279" y="5056632"/>
            <a:ext cx="320040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37575" y="5129784"/>
            <a:ext cx="303580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拉伤、夹线、机构复杂、成本上升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58368" y="5961888"/>
            <a:ext cx="10881360" cy="384048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6007608"/>
            <a:ext cx="10698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1">
                <a:solidFill>
                  <a:srgbClr val="153052"/>
                </a:solidFill>
                <a:latin typeface="微软雅黑" panose="020B0503020204020204" charset="-122"/>
              </a:rPr>
              <a:t>价值：把“看起来可能有问题”转变为“哪个区域、哪个指标、实际是多少、依据是什么”。</a:t>
            </a:r>
            <a:endParaRPr sz="125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04｜多源信息融合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能力三：让二维图纸要求真正参与三维分析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材料、公差、皮纹、外观等级等信息常常不在 STEP 中，只有融合后才能选择正确规则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3090672" cy="384048"/>
          </a:xfrm>
          <a:prstGeom prst="roundRect">
            <a:avLst/>
          </a:prstGeom>
          <a:solidFill>
            <a:srgbClr val="2A68A7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673352"/>
            <a:ext cx="2980944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二维图纸与技术要求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3090672" cy="312724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487168"/>
            <a:ext cx="24871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96312"/>
            <a:ext cx="24871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2A68A7"/>
                </a:solidFill>
                <a:latin typeface="微软雅黑" panose="020B0503020204020204" charset="-122"/>
              </a:rPr>
              <a:t>材料：ABS / PC+ABS</a:t>
            </a:r>
            <a:endParaRPr sz="105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6112" y="2990088"/>
            <a:ext cx="24871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999232"/>
            <a:ext cx="24871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2A68A7"/>
                </a:solidFill>
                <a:latin typeface="微软雅黑" panose="020B0503020204020204" charset="-122"/>
              </a:rPr>
              <a:t>皮纹：指定纹理及等级</a:t>
            </a:r>
            <a:endParaRPr sz="105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96112" y="3493008"/>
            <a:ext cx="24871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502152"/>
            <a:ext cx="24871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2A68A7"/>
                </a:solidFill>
                <a:latin typeface="微软雅黑" panose="020B0503020204020204" charset="-122"/>
              </a:rPr>
              <a:t>公差与关键尺寸</a:t>
            </a:r>
            <a:endParaRPr sz="105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6112" y="3995928"/>
            <a:ext cx="24871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5072"/>
            <a:ext cx="24871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2A68A7"/>
                </a:solidFill>
                <a:latin typeface="微软雅黑" panose="020B0503020204020204" charset="-122"/>
              </a:rPr>
              <a:t>外观面与禁入区域</a:t>
            </a:r>
            <a:endParaRPr sz="105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6112" y="4498848"/>
            <a:ext cx="24871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507992"/>
            <a:ext cx="24871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2A68A7"/>
                </a:solidFill>
                <a:latin typeface="微软雅黑" panose="020B0503020204020204" charset="-122"/>
              </a:rPr>
              <a:t>客户特殊技术要求</a:t>
            </a:r>
            <a:endParaRPr sz="105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87952" y="1645920"/>
            <a:ext cx="3822191" cy="384048"/>
          </a:xfrm>
          <a:prstGeom prst="roundRect">
            <a:avLst/>
          </a:prstGeom>
          <a:solidFill>
            <a:srgbClr val="23897B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673352"/>
            <a:ext cx="3712463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可审核的 2D/3D 关联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187952" y="2148840"/>
            <a:ext cx="3822191" cy="3127248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2487168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53052"/>
                </a:solidFill>
                <a:latin typeface="微软雅黑" panose="020B0503020204020204" charset="-122"/>
              </a:rPr>
              <a:t>① 程序提取图纸文字与位置</a:t>
            </a:r>
            <a:endParaRPr sz="13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6089904" y="2834640"/>
            <a:ext cx="0" cy="301752"/>
          </a:xfrm>
          <a:prstGeom prst="line">
            <a:avLst/>
          </a:prstGeom>
          <a:ln w="25400">
            <a:solidFill>
              <a:srgbClr val="23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99432" y="3209544"/>
            <a:ext cx="2999232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53052"/>
                </a:solidFill>
                <a:latin typeface="微软雅黑" panose="020B0503020204020204" charset="-122"/>
              </a:rPr>
              <a:t>② 智能体理解工程语义并提出关联</a:t>
            </a:r>
            <a:endParaRPr sz="13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6089904" y="3657600"/>
            <a:ext cx="0" cy="301752"/>
          </a:xfrm>
          <a:prstGeom prst="line">
            <a:avLst/>
          </a:prstGeom>
          <a:ln w="25400">
            <a:solidFill>
              <a:srgbClr val="23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99432" y="4041648"/>
            <a:ext cx="2999232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53052"/>
                </a:solidFill>
                <a:latin typeface="微软雅黑" panose="020B0503020204020204" charset="-122"/>
              </a:rPr>
              <a:t>③ 程序校验、几何验证、人工复核</a:t>
            </a:r>
            <a:endParaRPr sz="13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617720" y="4599432"/>
            <a:ext cx="29443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608576"/>
            <a:ext cx="29443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30" b="1">
                <a:solidFill>
                  <a:srgbClr val="23897B"/>
                </a:solidFill>
                <a:latin typeface="微软雅黑" panose="020B0503020204020204" charset="-122"/>
              </a:rPr>
              <a:t>保留原文 · 页码 · 位置 · 版本 · 置信度</a:t>
            </a:r>
            <a:endParaRPr sz="103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513064" y="1645920"/>
            <a:ext cx="3090672" cy="384048"/>
          </a:xfrm>
          <a:prstGeom prst="roundRect">
            <a:avLst/>
          </a:prstGeom>
          <a:solidFill>
            <a:srgbClr val="67539B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67928" y="1673352"/>
            <a:ext cx="2980944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三维结构区域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513064" y="2148840"/>
            <a:ext cx="3090672" cy="3127248"/>
          </a:xfrm>
          <a:prstGeom prst="roundRect">
            <a:avLst/>
          </a:prstGeom>
          <a:solidFill>
            <a:srgbClr val="F5F1FC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51392" y="2441448"/>
            <a:ext cx="914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67539B"/>
                </a:solidFill>
                <a:latin typeface="微软雅黑" panose="020B0503020204020204" charset="-122"/>
              </a:rPr>
              <a:t>外观面</a:t>
            </a:r>
            <a:endParaRPr sz="1250" b="1">
              <a:solidFill>
                <a:srgbClr val="67539B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84080" y="2395728"/>
            <a:ext cx="146304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>
                <a:solidFill>
                  <a:srgbClr val="26303C"/>
                </a:solidFill>
                <a:latin typeface="微软雅黑" panose="020B0503020204020204" charset="-122"/>
              </a:rPr>
              <a:t>应用更严格的拔模与缺陷标准</a:t>
            </a:r>
            <a:endParaRPr sz="103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851392" y="3081528"/>
            <a:ext cx="914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67539B"/>
                </a:solidFill>
                <a:latin typeface="微软雅黑" panose="020B0503020204020204" charset="-122"/>
              </a:rPr>
              <a:t>关键装配孔</a:t>
            </a:r>
            <a:endParaRPr sz="1250" b="1">
              <a:solidFill>
                <a:srgbClr val="67539B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784080" y="3035808"/>
            <a:ext cx="146304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>
                <a:solidFill>
                  <a:srgbClr val="26303C"/>
                </a:solidFill>
                <a:latin typeface="微软雅黑" panose="020B0503020204020204" charset="-122"/>
              </a:rPr>
              <a:t>应用尺寸、公差和加工约束</a:t>
            </a:r>
            <a:endParaRPr sz="103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851392" y="3721608"/>
            <a:ext cx="914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67539B"/>
                </a:solidFill>
                <a:latin typeface="微软雅黑" panose="020B0503020204020204" charset="-122"/>
              </a:rPr>
              <a:t>螺钉柱</a:t>
            </a:r>
            <a:endParaRPr sz="1250" b="1">
              <a:solidFill>
                <a:srgbClr val="67539B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784080" y="3675887"/>
            <a:ext cx="146304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>
                <a:solidFill>
                  <a:srgbClr val="26303C"/>
                </a:solidFill>
                <a:latin typeface="微软雅黑" panose="020B0503020204020204" charset="-122"/>
              </a:rPr>
              <a:t>结合材料和客户规则选择阈值</a:t>
            </a:r>
            <a:endParaRPr sz="103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851392" y="4361688"/>
            <a:ext cx="914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67539B"/>
                </a:solidFill>
                <a:latin typeface="微软雅黑" panose="020B0503020204020204" charset="-122"/>
              </a:rPr>
              <a:t>局部禁区</a:t>
            </a:r>
            <a:endParaRPr sz="1250" b="1">
              <a:solidFill>
                <a:srgbClr val="67539B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784080" y="4315968"/>
            <a:ext cx="146304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>
                <a:solidFill>
                  <a:srgbClr val="26303C"/>
                </a:solidFill>
                <a:latin typeface="微软雅黑" panose="020B0503020204020204" charset="-122"/>
              </a:rPr>
              <a:t>限制浇口、顶针或分型线布置</a:t>
            </a:r>
            <a:endParaRPr sz="103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3694176" y="3520440"/>
            <a:ext cx="420624" cy="0"/>
          </a:xfrm>
          <a:prstGeom prst="line">
            <a:avLst/>
          </a:prstGeom>
          <a:ln w="30480">
            <a:solidFill>
              <a:srgbClr val="23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019288" y="3520440"/>
            <a:ext cx="420624" cy="0"/>
          </a:xfrm>
          <a:prstGeom prst="line">
            <a:avLst/>
          </a:prstGeom>
          <a:ln w="30480">
            <a:solidFill>
              <a:srgbClr val="675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143000" y="5650992"/>
            <a:ext cx="9893808" cy="45720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25880" y="5724144"/>
            <a:ext cx="95280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53052"/>
                </a:solidFill>
                <a:latin typeface="微软雅黑" panose="020B0503020204020204" charset="-122"/>
              </a:rPr>
              <a:t>解决的问题：同一几何结构因材料、皮纹、外观等级或客户要求不同，判定阈值也随之变化。</a:t>
            </a:r>
            <a:endParaRPr sz="13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05｜知识与规则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能力四：把个人经验升级为可治理的企业规则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知识库保存依据与案例，规则库保存可执行判断；AI帮助起草，工程师负责审核和发布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2944368" cy="431596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2057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153052"/>
                </a:solidFill>
                <a:latin typeface="微软雅黑" panose="020B0503020204020204" charset="-122"/>
              </a:rPr>
              <a:t>知识资产</a:t>
            </a:r>
            <a:endParaRPr sz="19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" y="2578608"/>
            <a:ext cx="2331720" cy="2331720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900"/>
              </a:spcAft>
              <a:defRPr sz="122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企业规范与客户标准</a:t>
            </a:r>
          </a:p>
          <a:p>
            <a:pPr>
              <a:spcAft>
                <a:spcPts val="900"/>
              </a:spcAft>
              <a:defRPr sz="122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材料/皮纹供应商资料</a:t>
            </a:r>
          </a:p>
          <a:p>
            <a:pPr>
              <a:spcAft>
                <a:spcPts val="900"/>
              </a:spcAft>
              <a:defRPr sz="122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历史 DFM 报告与整改案例</a:t>
            </a:r>
          </a:p>
          <a:p>
            <a:pPr>
              <a:spcAft>
                <a:spcPts val="900"/>
              </a:spcAft>
              <a:defRPr sz="122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试模问题及量产缺陷</a:t>
            </a:r>
          </a:p>
          <a:p>
            <a:pPr>
              <a:spcAft>
                <a:spcPts val="900"/>
              </a:spcAft>
              <a:defRPr sz="122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每条内容保留版本与来源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212080"/>
            <a:ext cx="221284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221224"/>
            <a:ext cx="221284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2A68A7"/>
                </a:solidFill>
                <a:latin typeface="微软雅黑" panose="020B0503020204020204" charset="-122"/>
              </a:rPr>
              <a:t>回答：为什么这样判断？</a:t>
            </a:r>
            <a:endParaRPr sz="110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547872" y="3657600"/>
            <a:ext cx="457200" cy="0"/>
          </a:xfrm>
          <a:prstGeom prst="line">
            <a:avLst/>
          </a:prstGeom>
          <a:ln w="30480">
            <a:solidFill>
              <a:srgbClr val="23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41648" y="1691640"/>
            <a:ext cx="4096512" cy="4315968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47672"/>
            <a:ext cx="285292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153052"/>
                </a:solidFill>
                <a:latin typeface="微软雅黑" panose="020B0503020204020204" charset="-122"/>
              </a:rPr>
              <a:t>规则形成与发布</a:t>
            </a:r>
            <a:endParaRPr sz="19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61688" y="2514600"/>
            <a:ext cx="10241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523744"/>
            <a:ext cx="10241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23897B"/>
                </a:solidFill>
                <a:latin typeface="微软雅黑" panose="020B0503020204020204" charset="-122"/>
              </a:rPr>
              <a:t>AI 起草</a:t>
            </a:r>
            <a:endParaRPr sz="108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32120" y="2505456"/>
            <a:ext cx="226771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按已定义指标、影响因子和知识引用形成候选规则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4882896" y="2852928"/>
            <a:ext cx="0" cy="320040"/>
          </a:xfrm>
          <a:prstGeom prst="line">
            <a:avLst/>
          </a:prstGeom>
          <a:ln w="19050">
            <a:solidFill>
              <a:srgbClr val="23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61688" y="3264408"/>
            <a:ext cx="10241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3273551"/>
            <a:ext cx="10241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23897B"/>
                </a:solidFill>
                <a:latin typeface="微软雅黑" panose="020B0503020204020204" charset="-122"/>
              </a:rPr>
              <a:t>程序校验</a:t>
            </a:r>
            <a:endParaRPr sz="108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32120" y="3255264"/>
            <a:ext cx="226771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检查单位、条件、表达式、能力覆盖和规则冲突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4882896" y="3602736"/>
            <a:ext cx="0" cy="320040"/>
          </a:xfrm>
          <a:prstGeom prst="line">
            <a:avLst/>
          </a:prstGeom>
          <a:ln w="19050">
            <a:solidFill>
              <a:srgbClr val="23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61688" y="4014215"/>
            <a:ext cx="10241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4023359"/>
            <a:ext cx="10241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23897B"/>
                </a:solidFill>
                <a:latin typeface="微软雅黑" panose="020B0503020204020204" charset="-122"/>
              </a:rPr>
              <a:t>工程审核</a:t>
            </a:r>
            <a:endParaRPr sz="108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32120" y="4005072"/>
            <a:ext cx="226771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模具专家确认适用范围、阈值和例外场景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882896" y="4352544"/>
            <a:ext cx="0" cy="320039"/>
          </a:xfrm>
          <a:prstGeom prst="line">
            <a:avLst/>
          </a:prstGeom>
          <a:ln w="19050">
            <a:solidFill>
              <a:srgbClr val="23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361688" y="4764024"/>
            <a:ext cx="10241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4773168"/>
            <a:ext cx="10241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23897B"/>
                </a:solidFill>
                <a:latin typeface="微软雅黑" panose="020B0503020204020204" charset="-122"/>
              </a:rPr>
              <a:t>版本发布</a:t>
            </a:r>
            <a:endParaRPr sz="108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32120" y="4754880"/>
            <a:ext cx="226771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>
                <a:solidFill>
                  <a:srgbClr val="26303C"/>
                </a:solidFill>
                <a:latin typeface="微软雅黑" panose="020B0503020204020204" charset="-122"/>
              </a:rPr>
              <a:t>发布默认规则或企业规则，支持追溯和回滚</a:t>
            </a:r>
            <a:endParaRPr sz="10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174736" y="3657600"/>
            <a:ext cx="448056" cy="0"/>
          </a:xfrm>
          <a:prstGeom prst="line">
            <a:avLst/>
          </a:prstGeom>
          <a:ln w="30480">
            <a:solidFill>
              <a:srgbClr val="D689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59368" y="1691640"/>
            <a:ext cx="2944368" cy="4315968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1947672"/>
            <a:ext cx="2057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153052"/>
                </a:solidFill>
                <a:latin typeface="微软雅黑" panose="020B0503020204020204" charset="-122"/>
              </a:rPr>
              <a:t>规则应用层级</a:t>
            </a:r>
            <a:endParaRPr sz="19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997696" y="2578608"/>
            <a:ext cx="2240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34856" y="2660903"/>
            <a:ext cx="8412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67539B"/>
                </a:solidFill>
                <a:latin typeface="微软雅黑" panose="020B0503020204020204" charset="-122"/>
              </a:rPr>
              <a:t>项目事实</a:t>
            </a:r>
            <a:endParaRPr sz="1150" b="1">
              <a:solidFill>
                <a:srgbClr val="67539B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948672" y="2642615"/>
            <a:ext cx="1115568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26303C"/>
                </a:solidFill>
                <a:latin typeface="微软雅黑" panose="020B0503020204020204" charset="-122"/>
              </a:rPr>
              <a:t>当前材料、皮纹、客户及产品等级</a:t>
            </a:r>
            <a:endParaRPr sz="95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107424" y="3429000"/>
            <a:ext cx="202082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44584" y="3511296"/>
            <a:ext cx="8412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D68932"/>
                </a:solidFill>
                <a:latin typeface="微软雅黑" panose="020B0503020204020204" charset="-122"/>
              </a:rPr>
              <a:t>企业规则</a:t>
            </a:r>
            <a:endParaRPr sz="1150" b="1">
              <a:solidFill>
                <a:srgbClr val="D68932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21824" y="3493008"/>
            <a:ext cx="10058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26303C"/>
                </a:solidFill>
                <a:latin typeface="微软雅黑" panose="020B0503020204020204" charset="-122"/>
              </a:rPr>
              <a:t>企业工艺能力、质量标准和经验覆盖</a:t>
            </a:r>
            <a:endParaRPr sz="95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217152" y="4279392"/>
            <a:ext cx="180136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54312" y="4361688"/>
            <a:ext cx="8412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2A68A7"/>
                </a:solidFill>
                <a:latin typeface="微软雅黑" panose="020B0503020204020204" charset="-122"/>
              </a:rPr>
              <a:t>平台默认规则</a:t>
            </a:r>
            <a:endParaRPr sz="115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094976" y="4343400"/>
            <a:ext cx="89611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26303C"/>
                </a:solidFill>
                <a:latin typeface="微软雅黑" panose="020B0503020204020204" charset="-122"/>
              </a:rPr>
              <a:t>通用行业基线与推荐实践</a:t>
            </a:r>
            <a:endParaRPr sz="95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961120" y="5212080"/>
            <a:ext cx="23317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5221224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D68932"/>
                </a:solidFill>
                <a:latin typeface="微软雅黑" panose="020B0503020204020204" charset="-122"/>
              </a:rPr>
              <a:t>回答：当前项目该按什么标准？</a:t>
            </a:r>
            <a:endParaRPr sz="1050" b="1">
              <a:solidFill>
                <a:srgbClr val="D68932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07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06｜能力边界扩展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能力五：从产品几何检查，逐步扩展到完整模具决策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产品几何 DFM 是当前研发主航道，也是后续模具结构、模流分析和质量闭环共用的数据底座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27632"/>
            <a:ext cx="10808208" cy="658368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46504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产品几何 DFM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34640" y="1737360"/>
            <a:ext cx="664768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80" b="0">
                <a:solidFill>
                  <a:srgbClr val="26303C"/>
                </a:solidFill>
                <a:latin typeface="微软雅黑" panose="020B0503020204020204" charset="-122"/>
              </a:rPr>
              <a:t>结构识别 · 壁厚 · 拔模 · 圆角 · 孔深 · 倒扣 · 比例</a:t>
            </a:r>
            <a:endParaRPr sz="11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774936" y="1792224"/>
            <a:ext cx="14630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74936" y="1801368"/>
            <a:ext cx="14630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10" b="1">
                <a:solidFill>
                  <a:srgbClr val="23897B"/>
                </a:solidFill>
                <a:latin typeface="微软雅黑" panose="020B0503020204020204" charset="-122"/>
              </a:rPr>
              <a:t>2026—2028 主航道</a:t>
            </a:r>
            <a:endParaRPr sz="91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05840" y="2514600"/>
            <a:ext cx="10168128" cy="658368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2633472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模具结构 DFM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54680" y="2624328"/>
            <a:ext cx="600760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80" b="0">
                <a:solidFill>
                  <a:srgbClr val="26303C"/>
                </a:solidFill>
                <a:latin typeface="微软雅黑" panose="020B0503020204020204" charset="-122"/>
              </a:rPr>
              <a:t>分型 · 抽芯 · 顶出 · 浇注 · 冷却 · 干涉 · 可维护性</a:t>
            </a:r>
            <a:endParaRPr sz="11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454896" y="2679192"/>
            <a:ext cx="14630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54896" y="2688336"/>
            <a:ext cx="14630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10" b="1">
                <a:solidFill>
                  <a:srgbClr val="D68932"/>
                </a:solidFill>
                <a:latin typeface="微软雅黑" panose="020B0503020204020204" charset="-122"/>
              </a:rPr>
              <a:t>专项规划</a:t>
            </a:r>
            <a:endParaRPr sz="910" b="1">
              <a:solidFill>
                <a:srgbClr val="D68932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325880" y="3401568"/>
            <a:ext cx="9528048" cy="658368"/>
          </a:xfrm>
          <a:prstGeom prst="roundRect">
            <a:avLst/>
          </a:prstGeom>
          <a:solidFill>
            <a:srgbClr val="F5F1FC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45336" y="3520439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成型过程分析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3511296"/>
            <a:ext cx="536752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80" b="0">
                <a:solidFill>
                  <a:srgbClr val="26303C"/>
                </a:solidFill>
                <a:latin typeface="微软雅黑" panose="020B0503020204020204" charset="-122"/>
              </a:rPr>
              <a:t>充填 · 保压 · 冷却 · 翘曲 · 熔接线 · 气穴 · 锁模力</a:t>
            </a:r>
            <a:endParaRPr sz="11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34855" y="3566160"/>
            <a:ext cx="14630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5" y="3575303"/>
            <a:ext cx="14630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10" b="1">
                <a:solidFill>
                  <a:srgbClr val="67539B"/>
                </a:solidFill>
                <a:latin typeface="微软雅黑" panose="020B0503020204020204" charset="-122"/>
              </a:rPr>
              <a:t>专项规划</a:t>
            </a:r>
            <a:endParaRPr sz="910" b="1">
              <a:solidFill>
                <a:srgbClr val="67539B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645919" y="4288536"/>
            <a:ext cx="8887968" cy="65836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65376" y="4407408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联合方案优化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94760" y="4398264"/>
            <a:ext cx="472744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80" b="0">
                <a:solidFill>
                  <a:srgbClr val="26303C"/>
                </a:solidFill>
                <a:latin typeface="微软雅黑" panose="020B0503020204020204" charset="-122"/>
              </a:rPr>
              <a:t>产品、模具、材料和工艺多方案对比，兼顾质量、周期与成本</a:t>
            </a:r>
            <a:endParaRPr sz="11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814816" y="4453128"/>
            <a:ext cx="14630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14816" y="4462272"/>
            <a:ext cx="14630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10" b="1">
                <a:solidFill>
                  <a:srgbClr val="2A68A7"/>
                </a:solidFill>
                <a:latin typeface="微软雅黑" panose="020B0503020204020204" charset="-122"/>
              </a:rPr>
              <a:t>长期能力</a:t>
            </a:r>
            <a:endParaRPr sz="91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965960" y="5175504"/>
            <a:ext cx="8247888" cy="658368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42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85415" y="5294376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企业质量闭环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14800" y="5285232"/>
            <a:ext cx="408736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80" b="0">
                <a:solidFill>
                  <a:srgbClr val="26303C"/>
                </a:solidFill>
                <a:latin typeface="微软雅黑" panose="020B0503020204020204" charset="-122"/>
              </a:rPr>
              <a:t>试模与量产反馈校正规则、风险模型和企业经验</a:t>
            </a:r>
            <a:endParaRPr sz="118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494776" y="5340096"/>
            <a:ext cx="14630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4776" y="5349240"/>
            <a:ext cx="14630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10" b="1">
                <a:solidFill>
                  <a:srgbClr val="429164"/>
                </a:solidFill>
                <a:latin typeface="微软雅黑" panose="020B0503020204020204" charset="-122"/>
              </a:rPr>
              <a:t>持续演进</a:t>
            </a:r>
            <a:endParaRPr sz="910" b="1">
              <a:solidFill>
                <a:srgbClr val="429164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993392" y="6089904"/>
            <a:ext cx="8193024" cy="310896"/>
          </a:xfrm>
          <a:prstGeom prst="roundRect">
            <a:avLst/>
          </a:prstGeom>
          <a:solidFill>
            <a:srgbClr val="153052"/>
          </a:solidFill>
          <a:ln w="12700">
            <a:solidFill>
              <a:srgbClr val="15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03120" y="6108192"/>
            <a:ext cx="797356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每增加一层能力，都复用同一套结构区域、指标、规则、证据和版本追溯体系。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08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07｜结果交付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工程师最终拿到的，应是一份“可复核的结论”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每个问题都需要同时回答对象、数值、标准、位置、原因和整改，而不是只给出一段自然语言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67665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47672"/>
            <a:ext cx="841248" cy="310896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BE4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5"/>
            <a:ext cx="84124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BE494C"/>
                </a:solidFill>
                <a:latin typeface="微软雅黑" panose="020B0503020204020204" charset="-122"/>
              </a:rPr>
              <a:t>高风险</a:t>
            </a:r>
            <a:endParaRPr sz="1050" b="1">
              <a:solidFill>
                <a:srgbClr val="BE494C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84248" y="1938528"/>
            <a:ext cx="452628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53052"/>
                </a:solidFill>
                <a:latin typeface="微软雅黑" panose="020B0503020204020204" charset="-122"/>
              </a:rPr>
              <a:t>螺钉柱根部存在局部过厚风险</a:t>
            </a:r>
            <a:endParaRPr sz="20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0120" y="2587752"/>
            <a:ext cx="10241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96896"/>
            <a:ext cx="10241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A68A7"/>
                </a:solidFill>
                <a:latin typeface="微软雅黑" panose="020B0503020204020204" charset="-122"/>
              </a:rPr>
              <a:t>分析对象</a:t>
            </a:r>
            <a:endParaRPr sz="100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57984" y="2596896"/>
            <a:ext cx="4773168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60" b="0">
                <a:solidFill>
                  <a:srgbClr val="26303C"/>
                </a:solidFill>
                <a:latin typeface="微软雅黑" panose="020B0503020204020204" charset="-122"/>
              </a:rPr>
              <a:t>螺钉柱 #B07 · 根部连接区</a:t>
            </a:r>
            <a:endParaRPr sz="116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60120" y="3108960"/>
            <a:ext cx="10241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18103"/>
            <a:ext cx="10241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实际测量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57984" y="3118103"/>
            <a:ext cx="4773168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60" b="0">
                <a:solidFill>
                  <a:srgbClr val="26303C"/>
                </a:solidFill>
                <a:latin typeface="微软雅黑" panose="020B0503020204020204" charset="-122"/>
              </a:rPr>
              <a:t>局部厚度 2.35 mm；主体壁 1.40 mm</a:t>
            </a:r>
            <a:endParaRPr sz="116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60120" y="3630168"/>
            <a:ext cx="10241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39311"/>
            <a:ext cx="10241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D68932"/>
                </a:solidFill>
                <a:latin typeface="微软雅黑" panose="020B0503020204020204" charset="-122"/>
              </a:rPr>
              <a:t>适用规则</a:t>
            </a:r>
            <a:endParaRPr sz="1000" b="1">
              <a:solidFill>
                <a:srgbClr val="D6893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57984" y="3639311"/>
            <a:ext cx="4773168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60" b="0">
                <a:solidFill>
                  <a:srgbClr val="26303C"/>
                </a:solidFill>
                <a:latin typeface="微软雅黑" panose="020B0503020204020204" charset="-122"/>
              </a:rPr>
              <a:t>柱壁/主体壁比例及局部厚度企业规则</a:t>
            </a:r>
            <a:endParaRPr sz="116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0120" y="4151376"/>
            <a:ext cx="10241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60520"/>
            <a:ext cx="10241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67539B"/>
                </a:solidFill>
                <a:latin typeface="微软雅黑" panose="020B0503020204020204" charset="-122"/>
              </a:rPr>
              <a:t>问题证据</a:t>
            </a:r>
            <a:endParaRPr sz="1000" b="1">
              <a:solidFill>
                <a:srgbClr val="67539B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57984" y="4160520"/>
            <a:ext cx="4773168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60" b="0">
                <a:solidFill>
                  <a:srgbClr val="26303C"/>
                </a:solidFill>
                <a:latin typeface="微软雅黑" panose="020B0503020204020204" charset="-122"/>
              </a:rPr>
              <a:t>三维高亮区域 + 测量点 + 规则版本 + 原始模型版本</a:t>
            </a:r>
            <a:endParaRPr sz="116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60120" y="4672583"/>
            <a:ext cx="10241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681727"/>
            <a:ext cx="10241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E494C"/>
                </a:solidFill>
                <a:latin typeface="微软雅黑" panose="020B0503020204020204" charset="-122"/>
              </a:rPr>
              <a:t>工程解释</a:t>
            </a:r>
            <a:endParaRPr sz="1000" b="1">
              <a:solidFill>
                <a:srgbClr val="BE494C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57984" y="4681727"/>
            <a:ext cx="4773168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60" b="0">
                <a:solidFill>
                  <a:srgbClr val="26303C"/>
                </a:solidFill>
                <a:latin typeface="微软雅黑" panose="020B0503020204020204" charset="-122"/>
              </a:rPr>
              <a:t>厚料聚集导致冷却收缩差异，外观面可能出现缩痕</a:t>
            </a:r>
            <a:endParaRPr sz="116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60120" y="5193792"/>
            <a:ext cx="10241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202936"/>
            <a:ext cx="10241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429164"/>
                </a:solidFill>
                <a:latin typeface="微软雅黑" panose="020B0503020204020204" charset="-122"/>
              </a:rPr>
              <a:t>整改方向</a:t>
            </a:r>
            <a:endParaRPr sz="1000" b="1">
              <a:solidFill>
                <a:srgbClr val="429164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57984" y="5202936"/>
            <a:ext cx="4773168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60" b="0">
                <a:solidFill>
                  <a:srgbClr val="26303C"/>
                </a:solidFill>
                <a:latin typeface="微软雅黑" panose="020B0503020204020204" charset="-122"/>
              </a:rPr>
              <a:t>掏胶、调整连接过渡、控制柱壁比例，并复核强度</a:t>
            </a:r>
            <a:endParaRPr sz="116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7552" y="5760720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D68932"/>
                </a:solidFill>
                <a:latin typeface="微软雅黑" panose="020B0503020204020204" charset="-122"/>
              </a:rPr>
              <a:t>结论状态：待工程师复核</a:t>
            </a:r>
            <a:endParaRPr sz="1100" b="1">
              <a:solidFill>
                <a:srgbClr val="D68932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46120" y="5760720"/>
            <a:ext cx="38039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60" b="0">
                <a:solidFill>
                  <a:srgbClr val="606F80"/>
                </a:solidFill>
                <a:latin typeface="微软雅黑" panose="020B0503020204020204" charset="-122"/>
              </a:rPr>
              <a:t>输出：3D定位｜证据图片｜结构化数据｜PPT/PDF报告｜复核记录</a:t>
            </a:r>
            <a:endParaRPr sz="106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818120" y="1664208"/>
            <a:ext cx="3730752" cy="4526280"/>
          </a:xfrm>
          <a:prstGeom prst="roundRect">
            <a:avLst/>
          </a:prstGeom>
          <a:solidFill>
            <a:srgbClr val="153052"/>
          </a:solidFill>
          <a:ln w="12700">
            <a:solidFill>
              <a:srgbClr val="15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1993392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 panose="020B0503020204020204" charset="-122"/>
              </a:rPr>
              <a:t>一条合格的 DFM 结论</a:t>
            </a:r>
            <a:endParaRPr sz="1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8366760" y="2651760"/>
            <a:ext cx="256032" cy="256032"/>
          </a:xfrm>
          <a:prstGeom prst="ellipse">
            <a:avLst/>
          </a:prstGeom>
          <a:solidFill>
            <a:srgbClr val="23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642616"/>
            <a:ext cx="2560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✓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78240" y="2633472"/>
            <a:ext cx="2194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检查的是哪里？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8366760" y="3154680"/>
            <a:ext cx="256032" cy="256032"/>
          </a:xfrm>
          <a:prstGeom prst="ellipse">
            <a:avLst/>
          </a:prstGeom>
          <a:solidFill>
            <a:srgbClr val="23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145536"/>
            <a:ext cx="2560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✓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778240" y="3136392"/>
            <a:ext cx="2194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实际值是多少？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8366760" y="3657600"/>
            <a:ext cx="256032" cy="256032"/>
          </a:xfrm>
          <a:prstGeom prst="ellipse">
            <a:avLst/>
          </a:prstGeom>
          <a:solidFill>
            <a:srgbClr val="23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3648456"/>
            <a:ext cx="2560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✓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78240" y="3639312"/>
            <a:ext cx="2194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采用什么规则？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366760" y="4160520"/>
            <a:ext cx="256032" cy="256032"/>
          </a:xfrm>
          <a:prstGeom prst="ellipse">
            <a:avLst/>
          </a:prstGeom>
          <a:solidFill>
            <a:srgbClr val="23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4151376"/>
            <a:ext cx="2560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✓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778240" y="4142232"/>
            <a:ext cx="2194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问题证据在哪里？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366760" y="4663440"/>
            <a:ext cx="256032" cy="256032"/>
          </a:xfrm>
          <a:prstGeom prst="ellipse">
            <a:avLst/>
          </a:prstGeom>
          <a:solidFill>
            <a:srgbClr val="23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4654296"/>
            <a:ext cx="2560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✓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78240" y="4645152"/>
            <a:ext cx="2194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为什么有风险？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8366760" y="5166360"/>
            <a:ext cx="256032" cy="256032"/>
          </a:xfrm>
          <a:prstGeom prst="ellipse">
            <a:avLst/>
          </a:prstGeom>
          <a:solidFill>
            <a:srgbClr val="23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5157216"/>
            <a:ext cx="2560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✓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778240" y="5148072"/>
            <a:ext cx="2194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建议怎么修改？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83879" y="5596128"/>
            <a:ext cx="299923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B8DDD6"/>
                </a:solidFill>
                <a:latin typeface="微软雅黑" panose="020B0503020204020204" charset="-122"/>
              </a:rPr>
              <a:t>可定位 · 可解释 · 可追溯 · 可复现</a:t>
            </a:r>
            <a:endParaRPr sz="1300" b="1">
              <a:solidFill>
                <a:srgbClr val="B8DDD6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09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08｜持续优化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真正的产品价值来自“分析—整改—验证—沉淀”的闭环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系统不能只生成第一版报告，还要吸收工程师修正、客户反馈、试模结果和量产缺陷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84248"/>
            <a:ext cx="192024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设计资料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0704" y="2350008"/>
            <a:ext cx="194767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>
                <a:solidFill>
                  <a:srgbClr val="606F80"/>
                </a:solidFill>
                <a:latin typeface="微软雅黑" panose="020B0503020204020204" charset="-122"/>
              </a:rPr>
              <a:t>模型/图纸/项目事实</a:t>
            </a:r>
            <a:endParaRPr sz="10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4800" y="132588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392" y="1481328"/>
            <a:ext cx="192024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智能分析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61104" y="1847088"/>
            <a:ext cx="194767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>
                <a:solidFill>
                  <a:srgbClr val="606F80"/>
                </a:solidFill>
                <a:latin typeface="微软雅黑" panose="020B0503020204020204" charset="-122"/>
              </a:rPr>
              <a:t>识别/计算/规则判断</a:t>
            </a:r>
            <a:endParaRPr sz="10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1" y="1984248"/>
            <a:ext cx="192024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工程复核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44383" y="2350008"/>
            <a:ext cx="194767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>
                <a:solidFill>
                  <a:srgbClr val="606F80"/>
                </a:solidFill>
                <a:latin typeface="微软雅黑" panose="020B0503020204020204" charset="-122"/>
              </a:rPr>
              <a:t>确认/驳回/补充原因</a:t>
            </a:r>
            <a:endParaRPr sz="10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498079" y="425196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2671" y="4407408"/>
            <a:ext cx="192024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试模验证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44383" y="4773168"/>
            <a:ext cx="194767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>
                <a:solidFill>
                  <a:srgbClr val="606F80"/>
                </a:solidFill>
                <a:latin typeface="微软雅黑" panose="020B0503020204020204" charset="-122"/>
              </a:rPr>
              <a:t>缺陷/参数/整改效果</a:t>
            </a:r>
            <a:endParaRPr sz="10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114800" y="475488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2" y="4910328"/>
            <a:ext cx="192024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经验沉淀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61104" y="5276088"/>
            <a:ext cx="194767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>
                <a:solidFill>
                  <a:srgbClr val="606F80"/>
                </a:solidFill>
                <a:latin typeface="微软雅黑" panose="020B0503020204020204" charset="-122"/>
              </a:rPr>
              <a:t>案例/知识/企业规则</a:t>
            </a:r>
            <a:endParaRPr sz="10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400" y="425196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407408"/>
            <a:ext cx="192024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设计优化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704" y="4773168"/>
            <a:ext cx="194767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>
                <a:solidFill>
                  <a:srgbClr val="606F80"/>
                </a:solidFill>
                <a:latin typeface="微软雅黑" panose="020B0503020204020204" charset="-122"/>
              </a:rPr>
              <a:t>修改结构并再次分析</a:t>
            </a:r>
            <a:endParaRPr sz="10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 flipV="1">
            <a:off x="3154680" y="1947672"/>
            <a:ext cx="850392" cy="338328"/>
          </a:xfrm>
          <a:prstGeom prst="line">
            <a:avLst/>
          </a:prstGeom>
          <a:ln w="25400">
            <a:solidFill>
              <a:srgbClr val="23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355080" y="1947672"/>
            <a:ext cx="1005840" cy="338328"/>
          </a:xfrm>
          <a:prstGeom prst="line">
            <a:avLst/>
          </a:prstGeom>
          <a:ln w="25400">
            <a:solidFill>
              <a:srgbClr val="D689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13648" y="2816352"/>
            <a:ext cx="0" cy="1298448"/>
          </a:xfrm>
          <a:prstGeom prst="line">
            <a:avLst/>
          </a:prstGeom>
          <a:ln w="25400">
            <a:solidFill>
              <a:srgbClr val="675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355080" y="4736592"/>
            <a:ext cx="1005840" cy="429768"/>
          </a:xfrm>
          <a:prstGeom prst="line">
            <a:avLst/>
          </a:prstGeom>
          <a:ln w="25400">
            <a:solidFill>
              <a:srgbClr val="4291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154680" y="4736592"/>
            <a:ext cx="850392" cy="429768"/>
          </a:xfrm>
          <a:prstGeom prst="line">
            <a:avLst/>
          </a:prstGeom>
          <a:ln w="25400">
            <a:solidFill>
              <a:srgbClr val="BE4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029968" y="2834640"/>
            <a:ext cx="0" cy="1353312"/>
          </a:xfrm>
          <a:prstGeom prst="line">
            <a:avLst/>
          </a:prstGeom>
          <a:ln w="25400">
            <a:solidFill>
              <a:srgbClr val="2A6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553712" y="2862072"/>
            <a:ext cx="2194560" cy="1243584"/>
          </a:xfrm>
          <a:prstGeom prst="ellipse">
            <a:avLst/>
          </a:prstGeom>
          <a:solidFill>
            <a:srgbClr val="15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145536"/>
            <a:ext cx="1792224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 panose="020B0503020204020204" charset="-122"/>
              </a:rPr>
              <a:t>DFM 数据闭环</a:t>
            </a:r>
            <a:endParaRPr sz="1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00600" y="3566160"/>
            <a:ext cx="1691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80" b="0">
                <a:solidFill>
                  <a:srgbClr val="BED4E8"/>
                </a:solidFill>
                <a:latin typeface="微软雅黑" panose="020B0503020204020204" charset="-122"/>
              </a:rPr>
              <a:t>让每次项目都提升下一次分析</a:t>
            </a:r>
            <a:endParaRPr sz="980" b="0">
              <a:solidFill>
                <a:srgbClr val="BED4E8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040112" y="1828800"/>
            <a:ext cx="1572768" cy="33832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95560" y="2057400"/>
            <a:ext cx="12801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53052"/>
                </a:solidFill>
                <a:latin typeface="微软雅黑" panose="020B0503020204020204" charset="-122"/>
              </a:rPr>
              <a:t>需要沉淀的反馈</a:t>
            </a:r>
            <a:endParaRPr sz="13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222992" y="2743200"/>
            <a:ext cx="1207008" cy="2011680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漏检/误检</a:t>
            </a:r>
          </a:p>
          <a:p>
            <a:pPr>
              <a:spcAft>
                <a:spcPts val="600"/>
              </a:spcAft>
              <a:defRPr sz="105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规则不适用</a:t>
            </a:r>
          </a:p>
          <a:p>
            <a:pPr>
              <a:spcAft>
                <a:spcPts val="600"/>
              </a:spcAft>
              <a:defRPr sz="105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整改是否有效</a:t>
            </a:r>
          </a:p>
          <a:p>
            <a:pPr>
              <a:spcAft>
                <a:spcPts val="600"/>
              </a:spcAft>
              <a:defRPr sz="105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试模缺陷</a:t>
            </a:r>
          </a:p>
          <a:p>
            <a:pPr>
              <a:spcAft>
                <a:spcPts val="600"/>
              </a:spcAft>
              <a:defRPr sz="105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量产质量</a:t>
            </a:r>
          </a:p>
          <a:p>
            <a:pPr>
              <a:spcAft>
                <a:spcPts val="600"/>
              </a:spcAft>
              <a:defRPr sz="105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客户特殊经验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10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09｜产品路线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当前主航道：产品几何 DFM 分三个能力版本落地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“初级、中级、高级”表示分析工作的深度与覆盖范围，不代表系统可脱离工程师独立签审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554480"/>
            <a:ext cx="10314432" cy="420624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36776"/>
            <a:ext cx="989380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20" b="1">
                <a:solidFill>
                  <a:srgbClr val="2A68A7"/>
                </a:solidFill>
                <a:latin typeface="微软雅黑" panose="020B0503020204020204" charset="-122"/>
              </a:rPr>
              <a:t>2026.09—12 · V0.9  </a:t>
            </a:r>
            <a:r>
              <a:rPr sz="1120" b="0">
                <a:solidFill>
                  <a:srgbClr val="26303C"/>
                </a:solidFill>
                <a:latin typeface="微软雅黑" panose="020B0503020204020204" charset="-122"/>
              </a:rPr>
              <a:t>先完成技术与数据底座：链路可运行、结果可追溯、规则可配置、OCCT 接口可生产化。</a:t>
            </a:r>
            <a:endParaRPr sz="112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85216" y="2212848"/>
            <a:ext cx="3401568" cy="38221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2212848"/>
            <a:ext cx="3401568" cy="713232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68296"/>
            <a:ext cx="694944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23897B"/>
                </a:solidFill>
                <a:latin typeface="微软雅黑" panose="020B0503020204020204" charset="-122"/>
              </a:rPr>
              <a:t>V1.0</a:t>
            </a:r>
            <a:endParaRPr sz="18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06624" y="238658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2395727"/>
            <a:ext cx="10058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20" b="1">
                <a:solidFill>
                  <a:srgbClr val="23897B"/>
                </a:solidFill>
                <a:latin typeface="微软雅黑" panose="020B0503020204020204" charset="-122"/>
              </a:rPr>
              <a:t>2027 H1</a:t>
            </a:r>
            <a:endParaRPr sz="102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3816" y="3154680"/>
            <a:ext cx="29260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153052"/>
                </a:solidFill>
                <a:latin typeface="微软雅黑" panose="020B0503020204020204" charset="-122"/>
              </a:rPr>
              <a:t>初级 DFM 分析师水平</a:t>
            </a:r>
            <a:endParaRPr sz="17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3794760"/>
            <a:ext cx="2788920" cy="1353312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11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常见结构识别与基础指标计算</a:t>
            </a:r>
          </a:p>
          <a:p>
            <a:pPr>
              <a:spcAft>
                <a:spcPts val="700"/>
              </a:spcAft>
              <a:defRPr sz="111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按默认规则逐项检查并准确定位</a:t>
            </a:r>
          </a:p>
          <a:p>
            <a:pPr>
              <a:spcAft>
                <a:spcPts val="700"/>
              </a:spcAft>
              <a:defRPr sz="111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生成证据完整的标准 DFM 报告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5422392"/>
            <a:ext cx="2889504" cy="356616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5477256"/>
            <a:ext cx="27614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1">
                <a:solidFill>
                  <a:srgbClr val="23897B"/>
                </a:solidFill>
                <a:latin typeface="微软雅黑" panose="020B0503020204020204" charset="-122"/>
              </a:rPr>
              <a:t>重点：准确、稳定、少漏检</a:t>
            </a:r>
            <a:endParaRPr sz="105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4032504" y="4133087"/>
            <a:ext cx="329184" cy="0"/>
          </a:xfrm>
          <a:prstGeom prst="line">
            <a:avLst/>
          </a:prstGeom>
          <a:ln w="27940">
            <a:solidFill>
              <a:srgbClr val="CF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62272" y="2212848"/>
            <a:ext cx="3401568" cy="38221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62272" y="2212848"/>
            <a:ext cx="3401568" cy="713232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368296"/>
            <a:ext cx="694944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D68932"/>
                </a:solidFill>
                <a:latin typeface="微软雅黑" panose="020B0503020204020204" charset="-122"/>
              </a:rPr>
              <a:t>V1.1</a:t>
            </a:r>
            <a:endParaRPr sz="1800" b="1">
              <a:solidFill>
                <a:srgbClr val="D68932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79" y="238658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2395727"/>
            <a:ext cx="10058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20" b="1">
                <a:solidFill>
                  <a:srgbClr val="D68932"/>
                </a:solidFill>
                <a:latin typeface="微软雅黑" panose="020B0503020204020204" charset="-122"/>
              </a:rPr>
              <a:t>2027 H2</a:t>
            </a:r>
            <a:endParaRPr sz="1020" b="1">
              <a:solidFill>
                <a:srgbClr val="D6893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90872" y="3154680"/>
            <a:ext cx="29260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153052"/>
                </a:solidFill>
                <a:latin typeface="微软雅黑" panose="020B0503020204020204" charset="-122"/>
              </a:rPr>
              <a:t>中级 DFM 分析师水平</a:t>
            </a:r>
            <a:endParaRPr sz="17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73168" y="3794760"/>
            <a:ext cx="2788920" cy="1353312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11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融合二维图纸、用户事实与三维模型</a:t>
            </a:r>
          </a:p>
          <a:p>
            <a:pPr>
              <a:spcAft>
                <a:spcPts val="700"/>
              </a:spcAft>
              <a:defRPr sz="111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支持企业规则、多因素和多测量值</a:t>
            </a:r>
          </a:p>
          <a:p>
            <a:pPr>
              <a:spcAft>
                <a:spcPts val="700"/>
              </a:spcAft>
              <a:defRPr sz="111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形成较完整的问题分级与项目评审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18304" y="5422392"/>
            <a:ext cx="2889504" cy="356616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5477256"/>
            <a:ext cx="27614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1">
                <a:solidFill>
                  <a:srgbClr val="D68932"/>
                </a:solidFill>
                <a:latin typeface="微软雅黑" panose="020B0503020204020204" charset="-122"/>
              </a:rPr>
              <a:t>重点：信息融合、规则适配</a:t>
            </a:r>
            <a:endParaRPr sz="1050" b="1">
              <a:solidFill>
                <a:srgbClr val="D68932"/>
              </a:solidFill>
              <a:latin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7909560" y="4133087"/>
            <a:ext cx="329184" cy="0"/>
          </a:xfrm>
          <a:prstGeom prst="line">
            <a:avLst/>
          </a:prstGeom>
          <a:ln w="27940">
            <a:solidFill>
              <a:srgbClr val="CF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339328" y="2212848"/>
            <a:ext cx="3401568" cy="38221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39328" y="2212848"/>
            <a:ext cx="3401568" cy="713232"/>
          </a:xfrm>
          <a:prstGeom prst="roundRect">
            <a:avLst/>
          </a:prstGeom>
          <a:solidFill>
            <a:srgbClr val="F5F1FC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0496" y="2368296"/>
            <a:ext cx="694944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67539B"/>
                </a:solidFill>
                <a:latin typeface="微软雅黑" panose="020B0503020204020204" charset="-122"/>
              </a:rPr>
              <a:t>V1.2</a:t>
            </a:r>
            <a:endParaRPr sz="1800" b="1">
              <a:solidFill>
                <a:srgbClr val="67539B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0460736" y="238658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60736" y="2409443"/>
            <a:ext cx="10058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20" b="1">
                <a:solidFill>
                  <a:srgbClr val="67539B"/>
                </a:solidFill>
                <a:latin typeface="微软雅黑" panose="020B0503020204020204" charset="-122"/>
              </a:rPr>
              <a:t>2028 H</a:t>
            </a:r>
            <a:r>
              <a:rPr lang="en-US" sz="1020" b="1">
                <a:solidFill>
                  <a:srgbClr val="67539B"/>
                </a:solidFill>
                <a:latin typeface="微软雅黑" panose="020B0503020204020204" charset="-122"/>
              </a:rPr>
              <a:t>2</a:t>
            </a:r>
            <a:endParaRPr lang="en-US" sz="1020" b="1">
              <a:solidFill>
                <a:srgbClr val="67539B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67928" y="3154680"/>
            <a:ext cx="29260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153052"/>
                </a:solidFill>
                <a:latin typeface="微软雅黑" panose="020B0503020204020204" charset="-122"/>
              </a:rPr>
              <a:t>高级 DFM 分析师水平</a:t>
            </a:r>
            <a:endParaRPr sz="17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650224" y="3794760"/>
            <a:ext cx="2788920" cy="1353312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700"/>
              </a:spcAft>
              <a:defRPr sz="111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识别复杂结构和跨特征耦合风险</a:t>
            </a:r>
          </a:p>
          <a:p>
            <a:pPr>
              <a:spcAft>
                <a:spcPts val="700"/>
              </a:spcAft>
              <a:defRPr sz="111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结合案例比较多个整改方案及代价</a:t>
            </a:r>
          </a:p>
          <a:p>
            <a:pPr>
              <a:spcAft>
                <a:spcPts val="700"/>
              </a:spcAft>
              <a:defRPr sz="1110">
                <a:solidFill>
                  <a:srgbClr val="26303C"/>
                </a:solidFill>
                <a:latin typeface="微软雅黑" panose="020B0503020204020204" charset="-122"/>
              </a:defRPr>
            </a:pPr>
            <a:r>
              <a:t>•  主动表达不确定性并持续吸收反馈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60" y="5422392"/>
            <a:ext cx="2889504" cy="356616"/>
          </a:xfrm>
          <a:prstGeom prst="roundRect">
            <a:avLst/>
          </a:prstGeom>
          <a:solidFill>
            <a:srgbClr val="F5F1FC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59368" y="5477256"/>
            <a:ext cx="27614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1">
                <a:solidFill>
                  <a:srgbClr val="67539B"/>
                </a:solidFill>
                <a:latin typeface="微软雅黑" panose="020B0503020204020204" charset="-122"/>
              </a:rPr>
              <a:t>重点：综合判断、方案权衡</a:t>
            </a:r>
            <a:endParaRPr sz="1050" b="1">
              <a:solidFill>
                <a:srgbClr val="67539B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11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09｜产品路线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达到高级产品 DFM 能力后，再按专项逐步扩展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2028 年下半年以后的时间只表示建议启动窗口，需结合客户需求、样本、人员与技术预研重新立项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10972800" cy="694944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819656"/>
            <a:ext cx="93268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43786"/>
            <a:ext cx="932688" cy="2260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2028 H</a:t>
            </a:r>
            <a:r>
              <a:rPr lang="en-US" sz="1000" b="1">
                <a:solidFill>
                  <a:srgbClr val="23897B"/>
                </a:solidFill>
                <a:latin typeface="微软雅黑" panose="020B0503020204020204" charset="-122"/>
              </a:rPr>
              <a:t>2</a:t>
            </a:r>
            <a:endParaRPr lang="en-US"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39112" y="1792224"/>
            <a:ext cx="909828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20" b="1">
                <a:solidFill>
                  <a:srgbClr val="153052"/>
                </a:solidFill>
                <a:latin typeface="微软雅黑" panose="020B0503020204020204" charset="-122"/>
              </a:rPr>
              <a:t>V1.2 高级产品 DFM：形成产品设计阶段的复杂风险识别、方案比较和工程复核闭环</a:t>
            </a:r>
            <a:endParaRPr sz="132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932688" y="2651760"/>
            <a:ext cx="10314432" cy="585216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>
            <p:custDataLst>
              <p:tags r:id="rId2"/>
            </p:custDataLst>
          </p:nvPr>
        </p:nvSpPr>
        <p:spPr>
          <a:xfrm>
            <a:off x="1152144" y="2788920"/>
            <a:ext cx="106070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1152144" y="2816859"/>
            <a:ext cx="1060704" cy="2184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D68932"/>
                </a:solidFill>
                <a:latin typeface="微软雅黑" panose="020B0503020204020204" charset="-122"/>
              </a:rPr>
              <a:t>202</a:t>
            </a:r>
            <a:r>
              <a:rPr lang="en-US" sz="950" b="1">
                <a:solidFill>
                  <a:srgbClr val="D68932"/>
                </a:solidFill>
                <a:latin typeface="微软雅黑" panose="020B0503020204020204" charset="-122"/>
              </a:rPr>
              <a:t>9</a:t>
            </a:r>
            <a:r>
              <a:rPr sz="950" b="1">
                <a:solidFill>
                  <a:srgbClr val="D68932"/>
                </a:solidFill>
                <a:latin typeface="微软雅黑" panose="020B0503020204020204" charset="-122"/>
              </a:rPr>
              <a:t> H</a:t>
            </a:r>
            <a:r>
              <a:rPr lang="en-US" sz="950" b="1">
                <a:solidFill>
                  <a:srgbClr val="D68932"/>
                </a:solidFill>
                <a:latin typeface="微软雅黑" panose="020B0503020204020204" charset="-122"/>
              </a:rPr>
              <a:t>1</a:t>
            </a:r>
            <a:r>
              <a:rPr sz="950" b="1">
                <a:solidFill>
                  <a:srgbClr val="D68932"/>
                </a:solidFill>
                <a:latin typeface="微软雅黑" panose="020B0503020204020204" charset="-122"/>
              </a:rPr>
              <a:t> 起</a:t>
            </a:r>
            <a:endParaRPr sz="950" b="1">
              <a:solidFill>
                <a:srgbClr val="D6893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2404872" y="2770632"/>
            <a:ext cx="226771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>
                <a:solidFill>
                  <a:srgbClr val="153052"/>
                </a:solidFill>
                <a:latin typeface="微软雅黑" panose="020B0503020204020204" charset="-122"/>
              </a:rPr>
              <a:t>V2.0  模具结构 DFM</a:t>
            </a:r>
            <a:endParaRPr sz="14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4736592" y="2779776"/>
            <a:ext cx="5870448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10" b="0">
                <a:solidFill>
                  <a:srgbClr val="26303C"/>
                </a:solidFill>
                <a:latin typeface="微软雅黑" panose="020B0503020204020204" charset="-122"/>
              </a:rPr>
              <a:t>分型、抽芯、顶出、浇注、冷却及运动/干涉约束</a:t>
            </a:r>
            <a:endParaRPr sz="111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6"/>
            </p:custDataLst>
          </p:nvPr>
        </p:nvSpPr>
        <p:spPr>
          <a:xfrm>
            <a:off x="1152144" y="3456432"/>
            <a:ext cx="9875519" cy="585216"/>
          </a:xfrm>
          <a:prstGeom prst="roundRect">
            <a:avLst/>
          </a:prstGeom>
          <a:solidFill>
            <a:srgbClr val="F5F1FC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7"/>
            </p:custDataLst>
          </p:nvPr>
        </p:nvSpPr>
        <p:spPr>
          <a:xfrm>
            <a:off x="1371600" y="3593591"/>
            <a:ext cx="106070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1371600" y="3621531"/>
            <a:ext cx="1060704" cy="2184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67539B"/>
                </a:solidFill>
                <a:latin typeface="微软雅黑" panose="020B0503020204020204" charset="-122"/>
              </a:rPr>
              <a:t>20</a:t>
            </a:r>
            <a:r>
              <a:rPr lang="en-US" sz="950" b="1">
                <a:solidFill>
                  <a:srgbClr val="67539B"/>
                </a:solidFill>
                <a:latin typeface="微软雅黑" panose="020B0503020204020204" charset="-122"/>
              </a:rPr>
              <a:t>32</a:t>
            </a:r>
            <a:r>
              <a:rPr sz="950" b="1">
                <a:solidFill>
                  <a:srgbClr val="67539B"/>
                </a:solidFill>
                <a:latin typeface="微软雅黑" panose="020B0503020204020204" charset="-122"/>
              </a:rPr>
              <a:t> 起</a:t>
            </a:r>
            <a:endParaRPr sz="950" b="1">
              <a:solidFill>
                <a:srgbClr val="67539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2624328" y="3586924"/>
            <a:ext cx="2267712" cy="2876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>
                <a:solidFill>
                  <a:srgbClr val="153052"/>
                </a:solidFill>
                <a:latin typeface="微软雅黑" panose="020B0503020204020204" charset="-122"/>
              </a:rPr>
              <a:t>V</a:t>
            </a:r>
            <a:r>
              <a:rPr lang="en-US" sz="1400" b="1">
                <a:solidFill>
                  <a:srgbClr val="153052"/>
                </a:solidFill>
                <a:latin typeface="微软雅黑" panose="020B0503020204020204" charset="-122"/>
              </a:rPr>
              <a:t>3</a:t>
            </a:r>
            <a:r>
              <a:rPr sz="1400" b="1">
                <a:solidFill>
                  <a:srgbClr val="153052"/>
                </a:solidFill>
                <a:latin typeface="微软雅黑" panose="020B0503020204020204" charset="-122"/>
              </a:rPr>
              <a:t>.</a:t>
            </a:r>
            <a:r>
              <a:rPr lang="en-US" sz="1400" b="1">
                <a:solidFill>
                  <a:srgbClr val="153052"/>
                </a:solidFill>
                <a:latin typeface="微软雅黑" panose="020B0503020204020204" charset="-122"/>
              </a:rPr>
              <a:t>0</a:t>
            </a:r>
            <a:r>
              <a:rPr sz="1400" b="1">
                <a:solidFill>
                  <a:srgbClr val="153052"/>
                </a:solidFill>
                <a:latin typeface="微软雅黑" panose="020B0503020204020204" charset="-122"/>
              </a:rPr>
              <a:t>  成型过程分析</a:t>
            </a:r>
            <a:endParaRPr sz="14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4956048" y="3584448"/>
            <a:ext cx="5431536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10" b="0">
                <a:solidFill>
                  <a:srgbClr val="26303C"/>
                </a:solidFill>
                <a:latin typeface="微软雅黑" panose="020B0503020204020204" charset="-122"/>
              </a:rPr>
              <a:t>充填、保压、冷却、翘曲等 CAE 过程风险</a:t>
            </a:r>
            <a:endParaRPr sz="111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1"/>
            </p:custDataLst>
          </p:nvPr>
        </p:nvSpPr>
        <p:spPr>
          <a:xfrm>
            <a:off x="1371600" y="4261104"/>
            <a:ext cx="9436608" cy="585216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2"/>
            </p:custDataLst>
          </p:nvPr>
        </p:nvSpPr>
        <p:spPr>
          <a:xfrm>
            <a:off x="1591056" y="4398264"/>
            <a:ext cx="106070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3"/>
            </p:custDataLst>
          </p:nvPr>
        </p:nvSpPr>
        <p:spPr>
          <a:xfrm>
            <a:off x="1591056" y="4407408"/>
            <a:ext cx="1060704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2A68A7"/>
                </a:solidFill>
                <a:latin typeface="微软雅黑" panose="020B0503020204020204" charset="-122"/>
              </a:rPr>
              <a:t>长期规划</a:t>
            </a:r>
            <a:endParaRPr sz="95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2843784" y="4391597"/>
            <a:ext cx="2267712" cy="2876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>
                <a:solidFill>
                  <a:srgbClr val="153052"/>
                </a:solidFill>
                <a:latin typeface="微软雅黑" panose="020B0503020204020204" charset="-122"/>
              </a:rPr>
              <a:t>V3.</a:t>
            </a:r>
            <a:r>
              <a:rPr lang="en-US" sz="1400" b="1">
                <a:solidFill>
                  <a:srgbClr val="153052"/>
                </a:solidFill>
                <a:latin typeface="微软雅黑" panose="020B0503020204020204" charset="-122"/>
              </a:rPr>
              <a:t>5</a:t>
            </a:r>
            <a:r>
              <a:rPr sz="1400" b="1">
                <a:solidFill>
                  <a:srgbClr val="153052"/>
                </a:solidFill>
                <a:latin typeface="微软雅黑" panose="020B0503020204020204" charset="-122"/>
              </a:rPr>
              <a:t>  联合方案优化</a:t>
            </a:r>
            <a:endParaRPr sz="14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5175504" y="4389120"/>
            <a:ext cx="4992624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10" b="0">
                <a:solidFill>
                  <a:srgbClr val="26303C"/>
                </a:solidFill>
                <a:latin typeface="微软雅黑" panose="020B0503020204020204" charset="-122"/>
              </a:rPr>
              <a:t>产品、模具、材料与工艺的多方案比较和目标权衡</a:t>
            </a:r>
            <a:endParaRPr sz="111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>
            <p:custDataLst>
              <p:tags r:id="rId16"/>
            </p:custDataLst>
          </p:nvPr>
        </p:nvSpPr>
        <p:spPr>
          <a:xfrm>
            <a:off x="1591056" y="5065776"/>
            <a:ext cx="8997696" cy="585216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42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>
            <p:custDataLst>
              <p:tags r:id="rId17"/>
            </p:custDataLst>
          </p:nvPr>
        </p:nvSpPr>
        <p:spPr>
          <a:xfrm>
            <a:off x="1810512" y="5202936"/>
            <a:ext cx="106070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18"/>
            </p:custDataLst>
          </p:nvPr>
        </p:nvSpPr>
        <p:spPr>
          <a:xfrm>
            <a:off x="1810512" y="5212080"/>
            <a:ext cx="1060704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429164"/>
                </a:solidFill>
                <a:latin typeface="微软雅黑" panose="020B0503020204020204" charset="-122"/>
              </a:rPr>
              <a:t>持续演进</a:t>
            </a:r>
            <a:endParaRPr sz="950" b="1">
              <a:solidFill>
                <a:srgbClr val="429164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19"/>
            </p:custDataLst>
          </p:nvPr>
        </p:nvSpPr>
        <p:spPr>
          <a:xfrm>
            <a:off x="3063239" y="5184648"/>
            <a:ext cx="226771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>
                <a:solidFill>
                  <a:srgbClr val="153052"/>
                </a:solidFill>
                <a:latin typeface="微软雅黑" panose="020B0503020204020204" charset="-122"/>
              </a:rPr>
              <a:t>V4.0  企业质量闭环</a:t>
            </a:r>
            <a:endParaRPr sz="14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20"/>
            </p:custDataLst>
          </p:nvPr>
        </p:nvSpPr>
        <p:spPr>
          <a:xfrm>
            <a:off x="5394959" y="5193792"/>
            <a:ext cx="45537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10" b="0">
                <a:solidFill>
                  <a:srgbClr val="26303C"/>
                </a:solidFill>
                <a:latin typeface="微软雅黑" panose="020B0503020204020204" charset="-122"/>
              </a:rPr>
              <a:t>试模和量产数据反哺规则、案例与风险模型</a:t>
            </a:r>
            <a:endParaRPr sz="111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856231" y="5998464"/>
            <a:ext cx="8485632" cy="3657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6053328"/>
            <a:ext cx="8174736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30" b="1">
                <a:solidFill>
                  <a:srgbClr val="606F80"/>
                </a:solidFill>
                <a:latin typeface="微软雅黑" panose="020B0503020204020204" charset="-122"/>
              </a:rPr>
              <a:t>远期保持方向和技术难点的颗粒度，不在现阶段提前固化详细功能、工期和交付范围。</a:t>
            </a:r>
            <a:endParaRPr sz="1130" b="1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12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10｜业务价值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面向不同模具行业角色，产品提供不同价值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同一份可追溯分析数据，在设计、报价、评审、制造和管理环节被重复使用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3502152" cy="178308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1920240"/>
            <a:ext cx="493776" cy="493776"/>
          </a:xfrm>
          <a:prstGeom prst="ellipse">
            <a:avLst/>
          </a:prstGeom>
          <a:solidFill>
            <a:srgbClr val="2A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56816"/>
            <a:ext cx="49377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20" y="1929384"/>
            <a:ext cx="235915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产品/结构工程师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523744"/>
            <a:ext cx="299008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40" b="0">
                <a:solidFill>
                  <a:srgbClr val="26303C"/>
                </a:solidFill>
                <a:latin typeface="微软雅黑" panose="020B0503020204020204" charset="-122"/>
              </a:rPr>
              <a:t>在开模前看到风险位置、原因和可执行整改方向，减少后期被动改图。</a:t>
            </a:r>
            <a:endParaRPr sz="114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25696" y="1664208"/>
            <a:ext cx="3502152" cy="1783080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6864" y="1920240"/>
            <a:ext cx="493776" cy="493776"/>
          </a:xfrm>
          <a:prstGeom prst="ellipse">
            <a:avLst/>
          </a:prstGeom>
          <a:solidFill>
            <a:srgbClr val="23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956816"/>
            <a:ext cx="49377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76088" y="1929384"/>
            <a:ext cx="235915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模具工程师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81728" y="2523744"/>
            <a:ext cx="299008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40" b="0">
                <a:solidFill>
                  <a:srgbClr val="26303C"/>
                </a:solidFill>
                <a:latin typeface="微软雅黑" panose="020B0503020204020204" charset="-122"/>
              </a:rPr>
              <a:t>自动完成基础检查和客观测量，把时间集中在分型、机构与方案权衡。</a:t>
            </a:r>
            <a:endParaRPr sz="114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84463" y="1664208"/>
            <a:ext cx="3502152" cy="178308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85632" y="1920240"/>
            <a:ext cx="493776" cy="493776"/>
          </a:xfrm>
          <a:prstGeom prst="ellipse">
            <a:avLst/>
          </a:prstGeom>
          <a:solidFill>
            <a:srgbClr val="D68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956816"/>
            <a:ext cx="49377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34855" y="1929384"/>
            <a:ext cx="235915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项目/客户接口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40495" y="2523744"/>
            <a:ext cx="299008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40" b="0">
                <a:solidFill>
                  <a:srgbClr val="26303C"/>
                </a:solidFill>
                <a:latin typeface="微软雅黑" panose="020B0503020204020204" charset="-122"/>
              </a:rPr>
              <a:t>用统一的问题编号、三维定位、规则依据和版本记录减少反复沟通。</a:t>
            </a:r>
            <a:endParaRPr sz="114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" y="3785615"/>
            <a:ext cx="3502152" cy="1783080"/>
          </a:xfrm>
          <a:prstGeom prst="roundRect">
            <a:avLst/>
          </a:prstGeom>
          <a:solidFill>
            <a:srgbClr val="F5F1FC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8096" y="4041648"/>
            <a:ext cx="493776" cy="493776"/>
          </a:xfrm>
          <a:prstGeom prst="ellipse">
            <a:avLst/>
          </a:prstGeom>
          <a:solidFill>
            <a:srgbClr val="675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078224"/>
            <a:ext cx="49377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17320" y="4050791"/>
            <a:ext cx="235915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企业技术管理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4645152"/>
            <a:ext cx="299008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40" b="0">
                <a:solidFill>
                  <a:srgbClr val="26303C"/>
                </a:solidFill>
                <a:latin typeface="微软雅黑" panose="020B0503020204020204" charset="-122"/>
              </a:rPr>
              <a:t>建设默认规则、企业规则、案例和审核机制，降低经验依赖与人员流失风险。</a:t>
            </a:r>
            <a:endParaRPr sz="114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425696" y="3785615"/>
            <a:ext cx="3502152" cy="1783080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BE4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26864" y="4041648"/>
            <a:ext cx="493776" cy="493776"/>
          </a:xfrm>
          <a:prstGeom prst="ellipse">
            <a:avLst/>
          </a:prstGeom>
          <a:solidFill>
            <a:srgbClr val="BE4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4" y="4078224"/>
            <a:ext cx="49377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76088" y="4050791"/>
            <a:ext cx="235915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试模与质量团队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81728" y="4645152"/>
            <a:ext cx="299008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40" b="0">
                <a:solidFill>
                  <a:srgbClr val="26303C"/>
                </a:solidFill>
                <a:latin typeface="微软雅黑" panose="020B0503020204020204" charset="-122"/>
              </a:rPr>
              <a:t>把缺陷、参数和整改效果回连设计特征，推动规则和风险模型持续校准。</a:t>
            </a:r>
            <a:endParaRPr sz="114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84463" y="3785615"/>
            <a:ext cx="3502152" cy="1783080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42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85632" y="4041648"/>
            <a:ext cx="493776" cy="493776"/>
          </a:xfrm>
          <a:prstGeom prst="ellipse">
            <a:avLst/>
          </a:prstGeom>
          <a:solidFill>
            <a:srgbClr val="42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4078224"/>
            <a:ext cx="49377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34855" y="4050791"/>
            <a:ext cx="235915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53052"/>
                </a:solidFill>
                <a:latin typeface="微软雅黑" panose="020B0503020204020204" charset="-122"/>
              </a:rPr>
              <a:t>业务经营管理</a:t>
            </a:r>
            <a:endParaRPr sz="1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40495" y="4645152"/>
            <a:ext cx="299008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40" b="0">
                <a:solidFill>
                  <a:srgbClr val="26303C"/>
                </a:solidFill>
                <a:latin typeface="微软雅黑" panose="020B0503020204020204" charset="-122"/>
              </a:rPr>
              <a:t>用一致指标观察分析周期、风险关闭、试模轮次和知识复用效果。</a:t>
            </a:r>
            <a:endParaRPr sz="114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051560" y="5961888"/>
            <a:ext cx="10076688" cy="384048"/>
          </a:xfrm>
          <a:prstGeom prst="roundRect">
            <a:avLst/>
          </a:prstGeom>
          <a:solidFill>
            <a:srgbClr val="153052"/>
          </a:solidFill>
          <a:ln w="12700">
            <a:solidFill>
              <a:srgbClr val="15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6016752"/>
            <a:ext cx="9710928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 panose="020B0503020204020204" charset="-122"/>
              </a:rPr>
              <a:t>共同价值：更早发现问题、更快形成共识、更清楚承担责任、更持续复用经验。</a:t>
            </a:r>
            <a:endParaRPr sz="12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13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11｜落地衡量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用工程结果衡量产品，而不是只看“生成了多少报告”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具体目标应通过试点项目建立基线，再按产品类型、复杂度和企业标准分层评估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6642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75104"/>
            <a:ext cx="1371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2A68A7"/>
                </a:solidFill>
                <a:latin typeface="微软雅黑" panose="020B0503020204020204" charset="-122"/>
              </a:rPr>
              <a:t>效率</a:t>
            </a:r>
            <a:endParaRPr sz="1700" b="1">
              <a:solidFill>
                <a:srgbClr val="2A68A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2578608"/>
            <a:ext cx="140817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60" b="0">
                <a:solidFill>
                  <a:srgbClr val="26303C"/>
                </a:solidFill>
                <a:latin typeface="微软雅黑" panose="020B0503020204020204" charset="-122"/>
              </a:rPr>
              <a:t>单项目分析用时
问题确认与沟通周期</a:t>
            </a:r>
            <a:endParaRPr sz="106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468880" y="1737360"/>
            <a:ext cx="16642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15184" y="1975104"/>
            <a:ext cx="1371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23897B"/>
                </a:solidFill>
                <a:latin typeface="微软雅黑" panose="020B0503020204020204" charset="-122"/>
              </a:rPr>
              <a:t>覆盖</a:t>
            </a:r>
            <a:endParaRPr sz="17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96896" y="2578608"/>
            <a:ext cx="140817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60" b="0">
                <a:solidFill>
                  <a:srgbClr val="26303C"/>
                </a:solidFill>
                <a:latin typeface="微软雅黑" panose="020B0503020204020204" charset="-122"/>
              </a:rPr>
              <a:t>目标结构识别覆盖率
关键检查项执行率</a:t>
            </a:r>
            <a:endParaRPr sz="106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70832" y="1737360"/>
            <a:ext cx="16642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975104"/>
            <a:ext cx="1371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D68932"/>
                </a:solidFill>
                <a:latin typeface="微软雅黑" panose="020B0503020204020204" charset="-122"/>
              </a:rPr>
              <a:t>准确</a:t>
            </a:r>
            <a:endParaRPr sz="1700" b="1">
              <a:solidFill>
                <a:srgbClr val="D6893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98848" y="2578608"/>
            <a:ext cx="140817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60" b="0">
                <a:solidFill>
                  <a:srgbClr val="26303C"/>
                </a:solidFill>
                <a:latin typeface="微软雅黑" panose="020B0503020204020204" charset="-122"/>
              </a:rPr>
              <a:t>漏检率、误报率
几何测量误差</a:t>
            </a:r>
            <a:endParaRPr sz="106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72784" y="1737360"/>
            <a:ext cx="16642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75104"/>
            <a:ext cx="1371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BE494C"/>
                </a:solidFill>
                <a:latin typeface="微软雅黑" panose="020B0503020204020204" charset="-122"/>
              </a:rPr>
              <a:t>质量</a:t>
            </a:r>
            <a:endParaRPr sz="1700" b="1">
              <a:solidFill>
                <a:srgbClr val="BE494C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2578608"/>
            <a:ext cx="140817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60" b="0">
                <a:solidFill>
                  <a:srgbClr val="26303C"/>
                </a:solidFill>
                <a:latin typeface="微软雅黑" panose="020B0503020204020204" charset="-122"/>
              </a:rPr>
              <a:t>风险关闭率
首轮试模问题与改模轮次</a:t>
            </a:r>
            <a:endParaRPr sz="106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74736" y="1737360"/>
            <a:ext cx="16642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975104"/>
            <a:ext cx="1371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67539B"/>
                </a:solidFill>
                <a:latin typeface="微软雅黑" panose="020B0503020204020204" charset="-122"/>
              </a:rPr>
              <a:t>复用</a:t>
            </a:r>
            <a:endParaRPr sz="1700" b="1">
              <a:solidFill>
                <a:srgbClr val="67539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02752" y="2578608"/>
            <a:ext cx="140817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60" b="0">
                <a:solidFill>
                  <a:srgbClr val="26303C"/>
                </a:solidFill>
                <a:latin typeface="微软雅黑" panose="020B0503020204020204" charset="-122"/>
              </a:rPr>
              <a:t>企业规则使用率
历史案例命中与采纳率</a:t>
            </a:r>
            <a:endParaRPr sz="106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076688" y="1737360"/>
            <a:ext cx="16642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2992" y="1975104"/>
            <a:ext cx="1371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429164"/>
                </a:solidFill>
                <a:latin typeface="微软雅黑" panose="020B0503020204020204" charset="-122"/>
              </a:rPr>
              <a:t>可信</a:t>
            </a:r>
            <a:endParaRPr sz="1700" b="1">
              <a:solidFill>
                <a:srgbClr val="429164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04704" y="2578608"/>
            <a:ext cx="140817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60" b="0">
                <a:solidFill>
                  <a:srgbClr val="26303C"/>
                </a:solidFill>
                <a:latin typeface="微软雅黑" panose="020B0503020204020204" charset="-122"/>
              </a:rPr>
              <a:t>有证据结论占比
可复现与可追溯率</a:t>
            </a:r>
            <a:endParaRPr sz="106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8" y="3685032"/>
            <a:ext cx="10972800" cy="19659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53052"/>
                </a:solidFill>
                <a:latin typeface="微软雅黑" panose="020B0503020204020204" charset="-122"/>
              </a:rPr>
              <a:t>产品责任边界</a:t>
            </a:r>
            <a:endParaRPr sz="18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4400" y="4507992"/>
            <a:ext cx="98755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17136"/>
            <a:ext cx="9875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20" b="1">
                <a:solidFill>
                  <a:srgbClr val="23897B"/>
                </a:solidFill>
                <a:latin typeface="微软雅黑" panose="020B0503020204020204" charset="-122"/>
              </a:rPr>
              <a:t>系统负责</a:t>
            </a:r>
            <a:endParaRPr sz="102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21408" y="4517136"/>
            <a:ext cx="9006840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26303C"/>
                </a:solidFill>
                <a:latin typeface="微软雅黑" panose="020B0503020204020204" charset="-122"/>
              </a:rPr>
              <a:t>完整检查、客观计算、规则执行、证据追溯、报告生成与反馈沉淀</a:t>
            </a:r>
            <a:endParaRPr sz="115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14400" y="4892040"/>
            <a:ext cx="98755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901183"/>
            <a:ext cx="9875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20" b="1">
                <a:solidFill>
                  <a:srgbClr val="D68932"/>
                </a:solidFill>
                <a:latin typeface="微软雅黑" panose="020B0503020204020204" charset="-122"/>
              </a:rPr>
              <a:t>工程师负责</a:t>
            </a:r>
            <a:endParaRPr sz="1020" b="1">
              <a:solidFill>
                <a:srgbClr val="D68932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21408" y="4901183"/>
            <a:ext cx="9006840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26303C"/>
                </a:solidFill>
                <a:latin typeface="微软雅黑" panose="020B0503020204020204" charset="-122"/>
              </a:rPr>
              <a:t>确认项目事实、审核高风险结论、选择整改方案、完成专业签审</a:t>
            </a:r>
            <a:endParaRPr sz="115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14400" y="5276088"/>
            <a:ext cx="98755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85231"/>
            <a:ext cx="9875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20" b="1">
                <a:solidFill>
                  <a:srgbClr val="BE494C"/>
                </a:solidFill>
                <a:latin typeface="微软雅黑" panose="020B0503020204020204" charset="-122"/>
              </a:rPr>
              <a:t>明确区分</a:t>
            </a:r>
            <a:endParaRPr sz="1020" b="1">
              <a:solidFill>
                <a:srgbClr val="BE494C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1408" y="5285231"/>
            <a:ext cx="9006840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26303C"/>
                </a:solidFill>
                <a:latin typeface="微软雅黑" panose="020B0503020204020204" charset="-122"/>
              </a:rPr>
              <a:t>候选结果、研发参考结果与生产认证结果，不夸大算法能力</a:t>
            </a:r>
            <a:endParaRPr sz="1150" b="0">
              <a:solidFill>
                <a:srgbClr val="26303C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856231" y="5952744"/>
            <a:ext cx="8485632" cy="429768"/>
          </a:xfrm>
          <a:prstGeom prst="roundRect">
            <a:avLst/>
          </a:prstGeom>
          <a:solidFill>
            <a:srgbClr val="EBF8F4"/>
          </a:solidFill>
          <a:ln w="12700">
            <a:solidFill>
              <a:srgbClr val="23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6016752"/>
            <a:ext cx="817473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53052"/>
                </a:solidFill>
                <a:latin typeface="微软雅黑" panose="020B0503020204020204" charset="-122"/>
              </a:rPr>
              <a:t>目标不是替代模具工程师，而是让工程判断更完整、更高效、更容易传承。</a:t>
            </a:r>
            <a:endParaRPr sz="13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14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23897B"/>
                </a:solidFill>
                <a:latin typeface="微软雅黑" panose="020B0503020204020204" charset="-122"/>
              </a:rPr>
              <a:t>附录</a:t>
            </a:r>
            <a:endParaRPr sz="1000" b="1">
              <a:solidFill>
                <a:srgbClr val="23897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53052"/>
                </a:solidFill>
                <a:latin typeface="微软雅黑" panose="020B0503020204020204" charset="-122"/>
              </a:rPr>
              <a:t>附录：支撑长期能力演进的产品总体架构</a:t>
            </a:r>
            <a:endParaRPr sz="2500" b="1">
              <a:solidFill>
                <a:srgbClr val="15305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06F80"/>
                </a:solidFill>
                <a:latin typeface="微软雅黑" panose="020B0503020204020204" charset="-122"/>
              </a:rPr>
              <a:t>前端体验、智能体编排、规则知识治理、几何/仿真计算和企业数据闭环相互解耦</a:t>
            </a:r>
            <a:endParaRPr sz="11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CF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fm-system-long-term-architecture-pp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508760"/>
            <a:ext cx="9601200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微软雅黑" panose="020B0503020204020204" charset="-122"/>
              </a:rPr>
              <a:t>DFM 智能分析产品规划｜模具行业视角</a:t>
            </a:r>
            <a:endParaRPr sz="85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01400" y="6537960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06F80"/>
                </a:solidFill>
                <a:latin typeface="微软雅黑" panose="020B0503020204020204" charset="-122"/>
              </a:rPr>
              <a:t>15</a:t>
            </a:r>
            <a:endParaRPr sz="900" b="0">
              <a:solidFill>
                <a:srgbClr val="606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2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3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4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5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6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7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8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9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10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11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12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13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14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15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16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17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18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19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ags/tag20.xml><?xml version="1.0" encoding="utf-8"?>
<p:tagLst xmlns:p="http://schemas.openxmlformats.org/presentationml/2006/main">
  <p:tag name="KSO_WM_DIAGRAM_VIRTUALLY_FRAME" val="{&quot;height&quot;:236.15999999999994,&quot;left&quot;:73.44,&quot;top&quot;:208.8,&quot;width&quot;:812.16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4608</Words>
  <Application>WPS 演示</Application>
  <PresentationFormat>On-screen Show (4:3)</PresentationFormat>
  <Paragraphs>693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未来 DFM 智能分析产品能力——模具行业视角</dc:title>
  <dc:creator>MoldMind / Hermes DFM Team</dc:creator>
  <cp:keywords>DFM, 模具, 注塑, 智能体, 产品规划</cp:keywords>
  <dc:description>根据仓库内 DFM 产品路线与架构文档生成。</dc:description>
  <dc:subject>DFM 产品能力、行业问题与长期路线</dc:subject>
  <cp:lastModifiedBy>Luna（胡田田）</cp:lastModifiedBy>
  <cp:revision>10</cp:revision>
  <dcterms:created xsi:type="dcterms:W3CDTF">2013-01-27T09:14:00Z</dcterms:created>
  <dcterms:modified xsi:type="dcterms:W3CDTF">2026-09-08T01:20:08Z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E784473973734EBDADA71EA64DBBDE04_12</vt:lpwstr>
  </property>
  <property fmtid="{D5CDD505-2E9C-101B-9397-08002B2CF9AE}" pid="3" name="KSOProductBuildVer">
    <vt:lpwstr>2052-12.1.0.28022</vt:lpwstr>
  </property>
</Properties>
</file>